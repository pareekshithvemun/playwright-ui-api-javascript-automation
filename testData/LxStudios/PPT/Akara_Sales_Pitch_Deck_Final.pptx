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14"/>
  </p:notesMasterIdLst>
  <p:sldIdLst>
    <p:sldId id="2572" r:id="rId5"/>
    <p:sldId id="2563" r:id="rId6"/>
    <p:sldId id="2564" r:id="rId7"/>
    <p:sldId id="2565" r:id="rId8"/>
    <p:sldId id="2566" r:id="rId9"/>
    <p:sldId id="2567" r:id="rId10"/>
    <p:sldId id="2568" r:id="rId11"/>
    <p:sldId id="2570" r:id="rId12"/>
    <p:sldId id="25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ting the Stage" id="{412D4DAD-E048-4E32-9422-C2569532BA0D}">
          <p14:sldIdLst>
            <p14:sldId id="2572"/>
            <p14:sldId id="2563"/>
          </p14:sldIdLst>
        </p14:section>
        <p14:section name="Problem and Solution" id="{0F3F0F4A-0B5D-4152-9CE2-762F3CCA82A5}">
          <p14:sldIdLst>
            <p14:sldId id="2564"/>
            <p14:sldId id="2565"/>
            <p14:sldId id="2566"/>
          </p14:sldIdLst>
        </p14:section>
        <p14:section name="Proof and Differentiation" id="{082353F9-E657-43D8-9896-D6247AD3A900}">
          <p14:sldIdLst>
            <p14:sldId id="2567"/>
            <p14:sldId id="2568"/>
          </p14:sldIdLst>
        </p14:section>
        <p14:section name="Engagement and Next Steps" id="{B258E465-B37E-4D03-AAD6-6AA50FD9A305}">
          <p14:sldIdLst>
            <p14:sldId id="2570"/>
            <p14:sldId id="2571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00">
          <p15:clr>
            <a:srgbClr val="A4A3A4"/>
          </p15:clr>
        </p15:guide>
        <p15:guide id="4" pos="571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3F7199-26D7-BAED-62A2-68B05F967D7D}" name="Judy Li" initials="JL" userId="S::judy.li@skillsoft.com::87754b87-a492-47c0-9ad6-0110d288f97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00"/>
    <a:srgbClr val="009E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7B12B3-076E-472E-A954-406A971B3F2F}" v="8" dt="2026-01-26T11:18:57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118"/>
    <p:restoredTop sz="78598" autoAdjust="0"/>
  </p:normalViewPr>
  <p:slideViewPr>
    <p:cSldViewPr snapToGrid="0">
      <p:cViewPr varScale="1">
        <p:scale>
          <a:sx n="56" d="100"/>
          <a:sy n="56" d="100"/>
        </p:scale>
        <p:origin x="566" y="274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Crouch" userId="0a6f4973-ffd7-44d2-b0db-0688338a9577" providerId="ADAL" clId="{FBE74422-3178-4877-A080-111E4B5F6B7E}"/>
    <pc:docChg chg="modSld">
      <pc:chgData name="Clayton Crouch" userId="0a6f4973-ffd7-44d2-b0db-0688338a9577" providerId="ADAL" clId="{FBE74422-3178-4877-A080-111E4B5F6B7E}" dt="2026-01-26T11:18:57.052" v="8"/>
      <pc:docMkLst>
        <pc:docMk/>
      </pc:docMkLst>
      <pc:sldChg chg="modAnim">
        <pc:chgData name="Clayton Crouch" userId="0a6f4973-ffd7-44d2-b0db-0688338a9577" providerId="ADAL" clId="{FBE74422-3178-4877-A080-111E4B5F6B7E}" dt="2026-01-15T09:51:15.144" v="1"/>
        <pc:sldMkLst>
          <pc:docMk/>
          <pc:sldMk cId="845714105" sldId="2563"/>
        </pc:sldMkLst>
      </pc:sldChg>
      <pc:sldChg chg="modAnim">
        <pc:chgData name="Clayton Crouch" userId="0a6f4973-ffd7-44d2-b0db-0688338a9577" providerId="ADAL" clId="{FBE74422-3178-4877-A080-111E4B5F6B7E}" dt="2026-01-15T09:51:18.251" v="2"/>
        <pc:sldMkLst>
          <pc:docMk/>
          <pc:sldMk cId="2283803744" sldId="2564"/>
        </pc:sldMkLst>
      </pc:sldChg>
      <pc:sldChg chg="modAnim">
        <pc:chgData name="Clayton Crouch" userId="0a6f4973-ffd7-44d2-b0db-0688338a9577" providerId="ADAL" clId="{FBE74422-3178-4877-A080-111E4B5F6B7E}" dt="2026-01-26T11:18:57.052" v="8"/>
        <pc:sldMkLst>
          <pc:docMk/>
          <pc:sldMk cId="1252672993" sldId="2565"/>
        </pc:sldMkLst>
      </pc:sldChg>
      <pc:sldChg chg="modAnim">
        <pc:chgData name="Clayton Crouch" userId="0a6f4973-ffd7-44d2-b0db-0688338a9577" providerId="ADAL" clId="{FBE74422-3178-4877-A080-111E4B5F6B7E}" dt="2026-01-15T09:51:21.290" v="3"/>
        <pc:sldMkLst>
          <pc:docMk/>
          <pc:sldMk cId="1898542950" sldId="2566"/>
        </pc:sldMkLst>
      </pc:sldChg>
      <pc:sldChg chg="modAnim">
        <pc:chgData name="Clayton Crouch" userId="0a6f4973-ffd7-44d2-b0db-0688338a9577" providerId="ADAL" clId="{FBE74422-3178-4877-A080-111E4B5F6B7E}" dt="2026-01-15T09:51:24.191" v="4"/>
        <pc:sldMkLst>
          <pc:docMk/>
          <pc:sldMk cId="1306136300" sldId="2567"/>
        </pc:sldMkLst>
      </pc:sldChg>
      <pc:sldChg chg="modAnim">
        <pc:chgData name="Clayton Crouch" userId="0a6f4973-ffd7-44d2-b0db-0688338a9577" providerId="ADAL" clId="{FBE74422-3178-4877-A080-111E4B5F6B7E}" dt="2026-01-15T09:51:29.629" v="5"/>
        <pc:sldMkLst>
          <pc:docMk/>
          <pc:sldMk cId="215470113" sldId="2570"/>
        </pc:sldMkLst>
      </pc:sldChg>
      <pc:sldChg chg="modAnim">
        <pc:chgData name="Clayton Crouch" userId="0a6f4973-ffd7-44d2-b0db-0688338a9577" providerId="ADAL" clId="{FBE74422-3178-4877-A080-111E4B5F6B7E}" dt="2026-01-15T09:51:32.120" v="6"/>
        <pc:sldMkLst>
          <pc:docMk/>
          <pc:sldMk cId="3346073504" sldId="2571"/>
        </pc:sldMkLst>
      </pc:sldChg>
      <pc:sldChg chg="modAnim modNotesTx">
        <pc:chgData name="Clayton Crouch" userId="0a6f4973-ffd7-44d2-b0db-0688338a9577" providerId="ADAL" clId="{FBE74422-3178-4877-A080-111E4B5F6B7E}" dt="2026-01-15T15:19:24.460" v="7" actId="20577"/>
        <pc:sldMkLst>
          <pc:docMk/>
          <pc:sldMk cId="278196284" sldId="25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24F60-8EEE-4E46-904C-CDE3A7CAAE6D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DFF25-5C37-43A5-90F9-F90F41567F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1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 intro, thank audience, set expectation for logistics transformation story.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42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logistics company focused on trust and innovation.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Mission: become the most trusted supply-chain partner worldwide.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Values: integrity, innovation, accountability, respect, sustainability.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Playbook keeps every team aligned to these principles.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aren’t slogans — they guide daily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06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Businesses face pressure for faster, more transparent logistics.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Fragmented systems and unreliable networks drive up costs.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visibility hurts customer trust and growth.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challenge: connect every piece of the supply chain.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Sets up the need for a smarter, unified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4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overcome these challenges, organizations need connected systems, data-driven visibility, and operational unity. </a:t>
            </a:r>
          </a:p>
          <a:p>
            <a:r>
              <a:rPr lang="en-GB" dirty="0"/>
              <a:t>The best logistics strategies do</a:t>
            </a:r>
            <a:r>
              <a:rPr lang="en-GB" b="1" dirty="0"/>
              <a:t> three </a:t>
            </a:r>
            <a:r>
              <a:rPr lang="en-GB" dirty="0"/>
              <a:t>things: </a:t>
            </a:r>
          </a:p>
          <a:p>
            <a:pPr marL="228600" indent="-228600">
              <a:buAutoNum type="arabicParenR"/>
            </a:pPr>
            <a:r>
              <a:rPr lang="en-GB" dirty="0"/>
              <a:t>they integrate for impact</a:t>
            </a:r>
          </a:p>
          <a:p>
            <a:pPr marL="228600" indent="-228600">
              <a:buAutoNum type="arabicParenR"/>
            </a:pPr>
            <a:r>
              <a:rPr lang="en-GB" dirty="0"/>
              <a:t>they power decisions with data</a:t>
            </a:r>
          </a:p>
          <a:p>
            <a:pPr marL="228600" indent="-228600">
              <a:buAutoNum type="arabicParenR"/>
            </a:pPr>
            <a:r>
              <a:rPr lang="en-GB" dirty="0"/>
              <a:t>and they unify the entire network from warehouse to last mile. </a:t>
            </a:r>
          </a:p>
          <a:p>
            <a:pPr marL="0" indent="0">
              <a:buNone/>
            </a:pPr>
            <a:r>
              <a:rPr lang="en-GB" dirty="0"/>
              <a:t>This approach defines truly modern logistics - making operations efficient, transparent, and strategically aligned with business goals.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6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Akara </a:t>
            </a:r>
            <a:r>
              <a:rPr lang="en-GB" dirty="0"/>
              <a:t>brings these principles to life through fully integrated, end-to-end solutions. This means managing freight forwarding, warehousing, last-mile delivery, and real-time tracking - all within a single, connected system.</a:t>
            </a:r>
          </a:p>
          <a:p>
            <a:endParaRPr lang="en-GB" dirty="0"/>
          </a:p>
          <a:p>
            <a:r>
              <a:rPr lang="en-GB" dirty="0"/>
              <a:t>We consistently deliver strong results, including 95% on-time deliveries, 99% inventory accuracy, and customer satisfaction scores above </a:t>
            </a:r>
            <a:r>
              <a:rPr lang="en-GB"/>
              <a:t>4.5.</a:t>
            </a:r>
          </a:p>
          <a:p>
            <a:endParaRPr lang="en-GB" dirty="0"/>
          </a:p>
          <a:p>
            <a:r>
              <a:rPr lang="en-GB" dirty="0"/>
              <a:t>These outcomes are powered by our platform ecosystem – Akara Suite, </a:t>
            </a:r>
            <a:r>
              <a:rPr lang="en-GB" dirty="0" err="1"/>
              <a:t>FleetTrack</a:t>
            </a:r>
            <a:r>
              <a:rPr lang="en-GB" dirty="0"/>
              <a:t>, </a:t>
            </a:r>
            <a:r>
              <a:rPr lang="en-GB" dirty="0" err="1"/>
              <a:t>WarePro</a:t>
            </a:r>
            <a:r>
              <a:rPr lang="en-GB" dirty="0"/>
              <a:t>, and CRM 360 - which provides advanced analytics, automation, and full visibility to drive faster, smarter, and more reliable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8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FMCG client improved delivery accuracy by 30 %.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Manufacturing client cut warehouse time 25 %.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 360 boosted engagement and retention.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Data-driven results prove the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88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Proprietary tech stack = more control and reliability.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tracking and automation reduce disruptions.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Competitors depend on third-party tools — we don’t.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Clients choose Akara for speed, trust, and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01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Flexible, needs-based pricing for every client.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Factors: shipment volume, warehousing, tech integration.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 only for what you need — request a tailored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6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 a discovery call or demo.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akara.com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email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sales@akara.com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start transforming your logistics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4DEFF-BB57-40DA-8B97-C3BF9521077A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2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340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942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022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1835-5496-45B5-8F41-446AEF95A0DA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3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E1D5-4475-4CA3-AC4D-379F98696CBC}" type="datetime1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5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F88C-D673-425E-A1AD-F27D6612A7E9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3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28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BB46-88BB-4802-B648-31AB6402D61B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4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003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210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30256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07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24132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3551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419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971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E29D-6DB2-8367-8C22-A1E91C1B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871" y="1707549"/>
            <a:ext cx="7258050" cy="2826351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3200" cap="all" spc="300" baseline="0" dirty="0">
                <a:solidFill>
                  <a:srgbClr val="435A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720C-B704-C80D-1EF4-5710B629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B593-2C8D-C670-C1BF-BA88037E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BFD8A8F4-D6E2-4399-A622-E14C443C68CE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00C8-8EB8-3AA0-D520-567A0812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A57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52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548" y="448056"/>
            <a:ext cx="4560733" cy="1554480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3D5433EA-5783-663B-2F08-99368E1D23B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6515100" cy="6857999"/>
          </a:xfrm>
          <a:custGeom>
            <a:avLst/>
            <a:gdLst>
              <a:gd name="connsiteX0" fmla="*/ 6515100 w 6515100"/>
              <a:gd name="connsiteY0" fmla="*/ 0 h 6857999"/>
              <a:gd name="connsiteX1" fmla="*/ 6453351 w 6515100"/>
              <a:gd name="connsiteY1" fmla="*/ 6333654 h 6857999"/>
              <a:gd name="connsiteX2" fmla="*/ 6438590 w 6515100"/>
              <a:gd name="connsiteY2" fmla="*/ 6857999 h 6857999"/>
              <a:gd name="connsiteX3" fmla="*/ 6438091 w 6515100"/>
              <a:gd name="connsiteY3" fmla="*/ 6857999 h 6857999"/>
              <a:gd name="connsiteX4" fmla="*/ 0 w 6515100"/>
              <a:gd name="connsiteY4" fmla="*/ 6844810 h 6857999"/>
              <a:gd name="connsiteX5" fmla="*/ 0 w 6515100"/>
              <a:gd name="connsiteY5" fmla="*/ 84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15100" h="6857999">
                <a:moveTo>
                  <a:pt x="6515100" y="0"/>
                </a:moveTo>
                <a:cubicBezTo>
                  <a:pt x="6509287" y="1398894"/>
                  <a:pt x="6521634" y="3729222"/>
                  <a:pt x="6453351" y="6333654"/>
                </a:cubicBezTo>
                <a:lnTo>
                  <a:pt x="6438590" y="6857999"/>
                </a:lnTo>
                <a:lnTo>
                  <a:pt x="6438091" y="6857999"/>
                </a:lnTo>
                <a:lnTo>
                  <a:pt x="0" y="6844810"/>
                </a:lnTo>
                <a:lnTo>
                  <a:pt x="0" y="844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B0B376-5614-169D-1000-D62753F597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69150" y="2182813"/>
            <a:ext cx="4560888" cy="3659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8548" y="6356350"/>
            <a:ext cx="278156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50115" y="6356350"/>
            <a:ext cx="1261223" cy="365125"/>
          </a:xfrm>
        </p:spPr>
        <p:txBody>
          <a:bodyPr/>
          <a:lstStyle/>
          <a:p>
            <a:fld id="{F7E7D378-CEE0-4465-A35F-6E07851811AE}" type="datetime1">
              <a:rPr lang="en-US" smtClean="0"/>
              <a:t>1/23/2026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06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091" y="354723"/>
            <a:ext cx="6541852" cy="1166961"/>
          </a:xfrm>
        </p:spPr>
        <p:txBody>
          <a:bodyPr anchor="b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97FDA96D-AA5A-6D0C-6AE7-4FCE06AA3E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341253" cy="6858000"/>
          </a:xfrm>
          <a:custGeom>
            <a:avLst/>
            <a:gdLst>
              <a:gd name="connsiteX0" fmla="*/ 0 w 4341253"/>
              <a:gd name="connsiteY0" fmla="*/ 0 h 6858000"/>
              <a:gd name="connsiteX1" fmla="*/ 4052798 w 4341253"/>
              <a:gd name="connsiteY1" fmla="*/ 0 h 6858000"/>
              <a:gd name="connsiteX2" fmla="*/ 4052798 w 4341253"/>
              <a:gd name="connsiteY2" fmla="*/ 338 h 6858000"/>
              <a:gd name="connsiteX3" fmla="*/ 4256003 w 4341253"/>
              <a:gd name="connsiteY3" fmla="*/ 2 h 6858000"/>
              <a:gd name="connsiteX4" fmla="*/ 4339584 w 4341253"/>
              <a:gd name="connsiteY4" fmla="*/ 6037381 h 6858000"/>
              <a:gd name="connsiteX5" fmla="*/ 4325193 w 4341253"/>
              <a:gd name="connsiteY5" fmla="*/ 6858000 h 6858000"/>
              <a:gd name="connsiteX6" fmla="*/ 0 w 434125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1253" h="6858000">
                <a:moveTo>
                  <a:pt x="0" y="0"/>
                </a:moveTo>
                <a:lnTo>
                  <a:pt x="4052798" y="0"/>
                </a:lnTo>
                <a:lnTo>
                  <a:pt x="4052798" y="338"/>
                </a:lnTo>
                <a:lnTo>
                  <a:pt x="4256003" y="2"/>
                </a:lnTo>
                <a:cubicBezTo>
                  <a:pt x="4254971" y="1994413"/>
                  <a:pt x="4355290" y="4089505"/>
                  <a:pt x="4339584" y="6037381"/>
                </a:cubicBezTo>
                <a:lnTo>
                  <a:pt x="43251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E86C6-79F4-0A7E-BAEF-C8BA637F72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4450" y="1701800"/>
            <a:ext cx="6542088" cy="455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24091" y="6356350"/>
            <a:ext cx="451699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41089" y="6356350"/>
            <a:ext cx="1570250" cy="365125"/>
          </a:xfrm>
        </p:spPr>
        <p:txBody>
          <a:bodyPr/>
          <a:lstStyle/>
          <a:p>
            <a:fld id="{DE0C4980-27E8-4C63-986F-653C2548855D}" type="datetime1">
              <a:rPr lang="en-US" smtClean="0"/>
              <a:t>1/23/2026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461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8F5F-F725-721E-5B46-E1360B4C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8" y="500332"/>
            <a:ext cx="4018803" cy="1840196"/>
          </a:xfrm>
        </p:spPr>
        <p:txBody>
          <a:bodyPr anchor="t">
            <a:normAutofit/>
          </a:bodyPr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829CC2-59A6-D587-85F1-F467ED2E929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020" y="2692869"/>
            <a:ext cx="4875928" cy="4165130"/>
          </a:xfrm>
          <a:custGeom>
            <a:avLst/>
            <a:gdLst>
              <a:gd name="connsiteX0" fmla="*/ 0 w 6469813"/>
              <a:gd name="connsiteY0" fmla="*/ 0 h 4701397"/>
              <a:gd name="connsiteX1" fmla="*/ 6469813 w 6469813"/>
              <a:gd name="connsiteY1" fmla="*/ 0 h 4701397"/>
              <a:gd name="connsiteX2" fmla="*/ 6421695 w 6469813"/>
              <a:gd name="connsiteY2" fmla="*/ 4581167 h 4701397"/>
              <a:gd name="connsiteX3" fmla="*/ 6418392 w 6469813"/>
              <a:gd name="connsiteY3" fmla="*/ 4701397 h 4701397"/>
              <a:gd name="connsiteX4" fmla="*/ 0 w 6469813"/>
              <a:gd name="connsiteY4" fmla="*/ 4701397 h 4701397"/>
              <a:gd name="connsiteX0" fmla="*/ 0 w 7250003"/>
              <a:gd name="connsiteY0" fmla="*/ 0 h 4701397"/>
              <a:gd name="connsiteX1" fmla="*/ 6469813 w 7250003"/>
              <a:gd name="connsiteY1" fmla="*/ 0 h 4701397"/>
              <a:gd name="connsiteX2" fmla="*/ 6418392 w 7250003"/>
              <a:gd name="connsiteY2" fmla="*/ 4701397 h 4701397"/>
              <a:gd name="connsiteX3" fmla="*/ 0 w 7250003"/>
              <a:gd name="connsiteY3" fmla="*/ 4701397 h 4701397"/>
              <a:gd name="connsiteX4" fmla="*/ 0 w 7250003"/>
              <a:gd name="connsiteY4" fmla="*/ 0 h 4701397"/>
              <a:gd name="connsiteX0" fmla="*/ 0 w 7280242"/>
              <a:gd name="connsiteY0" fmla="*/ 0 h 4701397"/>
              <a:gd name="connsiteX1" fmla="*/ 6469813 w 7280242"/>
              <a:gd name="connsiteY1" fmla="*/ 0 h 4701397"/>
              <a:gd name="connsiteX2" fmla="*/ 6479578 w 7280242"/>
              <a:gd name="connsiteY2" fmla="*/ 4701397 h 4701397"/>
              <a:gd name="connsiteX3" fmla="*/ 0 w 7280242"/>
              <a:gd name="connsiteY3" fmla="*/ 4701397 h 4701397"/>
              <a:gd name="connsiteX4" fmla="*/ 0 w 7280242"/>
              <a:gd name="connsiteY4" fmla="*/ 0 h 4701397"/>
              <a:gd name="connsiteX0" fmla="*/ 0 w 6972326"/>
              <a:gd name="connsiteY0" fmla="*/ 0 h 4701397"/>
              <a:gd name="connsiteX1" fmla="*/ 6469813 w 6972326"/>
              <a:gd name="connsiteY1" fmla="*/ 0 h 4701397"/>
              <a:gd name="connsiteX2" fmla="*/ 6479578 w 6972326"/>
              <a:gd name="connsiteY2" fmla="*/ 4701397 h 4701397"/>
              <a:gd name="connsiteX3" fmla="*/ 0 w 6972326"/>
              <a:gd name="connsiteY3" fmla="*/ 4701397 h 4701397"/>
              <a:gd name="connsiteX4" fmla="*/ 0 w 6972326"/>
              <a:gd name="connsiteY4" fmla="*/ 0 h 4701397"/>
              <a:gd name="connsiteX0" fmla="*/ 0 w 6535521"/>
              <a:gd name="connsiteY0" fmla="*/ 0 h 4701397"/>
              <a:gd name="connsiteX1" fmla="*/ 6469813 w 6535521"/>
              <a:gd name="connsiteY1" fmla="*/ 0 h 4701397"/>
              <a:gd name="connsiteX2" fmla="*/ 6479578 w 6535521"/>
              <a:gd name="connsiteY2" fmla="*/ 4701397 h 4701397"/>
              <a:gd name="connsiteX3" fmla="*/ 0 w 6535521"/>
              <a:gd name="connsiteY3" fmla="*/ 4701397 h 4701397"/>
              <a:gd name="connsiteX4" fmla="*/ 0 w 6535521"/>
              <a:gd name="connsiteY4" fmla="*/ 0 h 4701397"/>
              <a:gd name="connsiteX0" fmla="*/ 0 w 6533851"/>
              <a:gd name="connsiteY0" fmla="*/ 0 h 4701397"/>
              <a:gd name="connsiteX1" fmla="*/ 6469813 w 6533851"/>
              <a:gd name="connsiteY1" fmla="*/ 0 h 4701397"/>
              <a:gd name="connsiteX2" fmla="*/ 6479578 w 6533851"/>
              <a:gd name="connsiteY2" fmla="*/ 4701397 h 4701397"/>
              <a:gd name="connsiteX3" fmla="*/ 0 w 6533851"/>
              <a:gd name="connsiteY3" fmla="*/ 4701397 h 4701397"/>
              <a:gd name="connsiteX4" fmla="*/ 0 w 6533851"/>
              <a:gd name="connsiteY4" fmla="*/ 0 h 4701397"/>
              <a:gd name="connsiteX0" fmla="*/ 0 w 6512630"/>
              <a:gd name="connsiteY0" fmla="*/ 0 h 4701397"/>
              <a:gd name="connsiteX1" fmla="*/ 6469813 w 6512630"/>
              <a:gd name="connsiteY1" fmla="*/ 0 h 4701397"/>
              <a:gd name="connsiteX2" fmla="*/ 6479578 w 6512630"/>
              <a:gd name="connsiteY2" fmla="*/ 4701397 h 4701397"/>
              <a:gd name="connsiteX3" fmla="*/ 0 w 6512630"/>
              <a:gd name="connsiteY3" fmla="*/ 4701397 h 4701397"/>
              <a:gd name="connsiteX4" fmla="*/ 0 w 6512630"/>
              <a:gd name="connsiteY4" fmla="*/ 0 h 470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12630" h="4701397">
                <a:moveTo>
                  <a:pt x="0" y="0"/>
                </a:moveTo>
                <a:lnTo>
                  <a:pt x="6469813" y="0"/>
                </a:lnTo>
                <a:cubicBezTo>
                  <a:pt x="6511613" y="1849615"/>
                  <a:pt x="6536064" y="2459281"/>
                  <a:pt x="6479578" y="4701397"/>
                </a:cubicBezTo>
                <a:lnTo>
                  <a:pt x="0" y="4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BE181E-F477-9F94-53E4-6AAA08D38B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9793" y="630238"/>
            <a:ext cx="6111343" cy="551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3BD3C-E7F2-F981-9099-94A5BC49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9793" y="6356349"/>
            <a:ext cx="423759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7150F-25C5-543B-51EF-0B3751A2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37390" y="6356350"/>
            <a:ext cx="1373948" cy="365125"/>
          </a:xfrm>
        </p:spPr>
        <p:txBody>
          <a:bodyPr/>
          <a:lstStyle/>
          <a:p>
            <a:fld id="{ED8AD8F5-FF50-4662-8ABF-0B6E9D1C92B2}" type="datetime1">
              <a:rPr lang="en-US" smtClean="0"/>
              <a:t>1/23/2026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A058F-975A-29AF-48D8-79E44462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4640D-0255-40E7-9767-A88F9D8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80307-5F99-4F4D-A70B-FB62BF230D96}" type="datetime1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6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10" r:id="rId17"/>
    <p:sldLayoutId id="2147483911" r:id="rId18"/>
    <p:sldLayoutId id="2147483912" r:id="rId19"/>
    <p:sldLayoutId id="2147483913" r:id="rId2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2E77-9A21-EC4D-25CB-025B4910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50" y="2133599"/>
            <a:ext cx="7258050" cy="240030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009E43"/>
                </a:solidFill>
              </a:rPr>
              <a:t>Akara Logistics Solutions</a:t>
            </a:r>
          </a:p>
        </p:txBody>
      </p:sp>
      <p:pic>
        <p:nvPicPr>
          <p:cNvPr id="4" name="Picture 3" descr="A green and white logo&#10;&#10;AI-generated content may be incorrect.">
            <a:extLst>
              <a:ext uri="{FF2B5EF4-FFF2-40B4-BE49-F238E27FC236}">
                <a16:creationId xmlns:a16="http://schemas.microsoft.com/office/drawing/2014/main" id="{084CB735-D56A-2DC7-A27E-FE8B58334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876" y="1395412"/>
            <a:ext cx="4717198" cy="147637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F2F0866-49F5-4DAE-1C2E-1FF626BD3967}"/>
              </a:ext>
            </a:extLst>
          </p:cNvPr>
          <p:cNvSpPr txBox="1">
            <a:spLocks/>
          </p:cNvSpPr>
          <p:nvPr/>
        </p:nvSpPr>
        <p:spPr>
          <a:xfrm>
            <a:off x="-504825" y="3750470"/>
            <a:ext cx="11658600" cy="471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i="1" dirty="0">
                <a:solidFill>
                  <a:srgbClr val="003900"/>
                </a:solidFill>
              </a:rPr>
              <a:t>Transforming Supply Chains with Speed, Transparency &amp; Trust.</a:t>
            </a:r>
          </a:p>
        </p:txBody>
      </p:sp>
    </p:spTree>
    <p:extLst>
      <p:ext uri="{BB962C8B-B14F-4D97-AF65-F5344CB8AC3E}">
        <p14:creationId xmlns:p14="http://schemas.microsoft.com/office/powerpoint/2010/main" val="2781962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4BA2-BF5F-4AF0-C5E9-02AC2F8A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About Akara</a:t>
            </a:r>
          </a:p>
        </p:txBody>
      </p:sp>
      <p:pic>
        <p:nvPicPr>
          <p:cNvPr id="5" name="Content Placeholder 4" descr="Boxes On Rack In Warehouse">
            <a:extLst>
              <a:ext uri="{FF2B5EF4-FFF2-40B4-BE49-F238E27FC236}">
                <a16:creationId xmlns:a16="http://schemas.microsoft.com/office/drawing/2014/main" id="{95D294ED-3B31-4B55-A296-BC4AB43F5D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3745" r="23744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D2321-5E2D-D5F0-BF19-D33B7A5D9615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209563" y="2160589"/>
            <a:ext cx="4064439" cy="3880773"/>
          </a:xfrm>
        </p:spPr>
        <p:txBody>
          <a:bodyPr>
            <a:noAutofit/>
          </a:bodyPr>
          <a:lstStyle/>
          <a:p>
            <a:pPr>
              <a:spcBef>
                <a:spcPts val="2500"/>
              </a:spcBef>
            </a:pPr>
            <a:r>
              <a:rPr lang="en-US" b="1" dirty="0"/>
              <a:t>Our Mission</a:t>
            </a:r>
            <a:r>
              <a:rPr lang="en-US" dirty="0"/>
              <a:t> — To be the most trusted logistics partner worldwide</a:t>
            </a:r>
          </a:p>
          <a:p>
            <a:pPr>
              <a:spcBef>
                <a:spcPts val="2500"/>
              </a:spcBef>
            </a:pPr>
            <a:r>
              <a:rPr lang="en-US" b="1" dirty="0"/>
              <a:t>Our Values</a:t>
            </a:r>
            <a:r>
              <a:rPr lang="en-US" dirty="0"/>
              <a:t> — Integrity, Innovation, Accountability, Respect, Sustainability</a:t>
            </a:r>
          </a:p>
          <a:p>
            <a:pPr>
              <a:spcBef>
                <a:spcPts val="2500"/>
              </a:spcBef>
            </a:pPr>
            <a:r>
              <a:rPr lang="en-US" b="1" dirty="0"/>
              <a:t>How We Work </a:t>
            </a:r>
            <a:r>
              <a:rPr lang="en-US" dirty="0"/>
              <a:t>— Customer-centric, consistent, and sustainable operations</a:t>
            </a:r>
          </a:p>
        </p:txBody>
      </p:sp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BC3E7899-69FE-78EE-FA1E-036D0E9D4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1410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C8FF-E4AD-5916-CAE8-B53359E0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563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The Challenge</a:t>
            </a:r>
          </a:p>
        </p:txBody>
      </p:sp>
      <p:pic>
        <p:nvPicPr>
          <p:cNvPr id="5" name="Content Placeholder 4" descr="Shipping and logistics concept,cargo box">
            <a:extLst>
              <a:ext uri="{FF2B5EF4-FFF2-40B4-BE49-F238E27FC236}">
                <a16:creationId xmlns:a16="http://schemas.microsoft.com/office/drawing/2014/main" id="{92489DEA-74B5-4EC4-9FC9-500987D07E1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5903" r="25903"/>
          <a:stretch>
            <a:fillRect/>
          </a:stretch>
        </p:blipFill>
        <p:spPr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E8B8F-9DD8-AE19-7747-C4EDB9287052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07570" y="1930400"/>
            <a:ext cx="4341253" cy="3880773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b="1" dirty="0"/>
              <a:t>Fragmented Systems</a:t>
            </a:r>
            <a:r>
              <a:rPr lang="en-US" dirty="0"/>
              <a:t> → limited visibility, inconsistent data</a:t>
            </a:r>
          </a:p>
          <a:p>
            <a:pPr>
              <a:spcBef>
                <a:spcPts val="2500"/>
              </a:spcBef>
            </a:pPr>
            <a:r>
              <a:rPr lang="en-US" b="1" dirty="0"/>
              <a:t>Unreliable Delivery Networks</a:t>
            </a:r>
            <a:r>
              <a:rPr lang="en-US" dirty="0"/>
              <a:t> → missed timelines, higher costs</a:t>
            </a:r>
          </a:p>
          <a:p>
            <a:pPr>
              <a:spcBef>
                <a:spcPts val="2500"/>
              </a:spcBef>
            </a:pPr>
            <a:r>
              <a:rPr lang="en-US" b="1" dirty="0"/>
              <a:t>Scaling Under Pressure</a:t>
            </a:r>
            <a:r>
              <a:rPr lang="en-US" dirty="0"/>
              <a:t> → operational inefficiencies, dissatisfied customers</a:t>
            </a: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8DBAA394-EDF2-3FF5-16ED-E3542582E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0374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BD8B-1CE1-AF13-9873-1E2789ED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680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The Solution</a:t>
            </a:r>
          </a:p>
        </p:txBody>
      </p:sp>
      <p:pic>
        <p:nvPicPr>
          <p:cNvPr id="5" name="Content Placeholder 4" descr="Container Truck on Highway and Cargo Airplane Flying with Pan Asia Pac Polygon Network Globe Background.">
            <a:extLst>
              <a:ext uri="{FF2B5EF4-FFF2-40B4-BE49-F238E27FC236}">
                <a16:creationId xmlns:a16="http://schemas.microsoft.com/office/drawing/2014/main" id="{37A38DA4-0B1A-45F5-8883-0A4241C49B4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3745" r="23744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24C62-2CDD-40BE-1B10-5721043AE76F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73148" y="1687551"/>
            <a:ext cx="4216901" cy="4552641"/>
          </a:xfrm>
        </p:spPr>
        <p:txBody>
          <a:bodyPr>
            <a:noAutofit/>
          </a:bodyPr>
          <a:lstStyle/>
          <a:p>
            <a:pPr>
              <a:spcBef>
                <a:spcPts val="2500"/>
              </a:spcBef>
            </a:pPr>
            <a:r>
              <a:rPr lang="en-US" b="1" dirty="0"/>
              <a:t>Integrate for Impact</a:t>
            </a:r>
            <a:r>
              <a:rPr lang="en-US" dirty="0"/>
              <a:t> – Build a logistics strategy centered on visibility, efficiency, and reliability.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Power with Data</a:t>
            </a:r>
            <a:r>
              <a:rPr lang="en-US" dirty="0"/>
              <a:t> – L</a:t>
            </a:r>
            <a:r>
              <a:rPr lang="en-GB" dirty="0" err="1"/>
              <a:t>everage</a:t>
            </a:r>
            <a:r>
              <a:rPr lang="en-GB" dirty="0"/>
              <a:t> real-time insights and automation to boost performance and control costs.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Unify the Network</a:t>
            </a:r>
            <a:r>
              <a:rPr lang="en-US" dirty="0"/>
              <a:t> – </a:t>
            </a:r>
            <a:r>
              <a:rPr lang="en-GB" dirty="0"/>
              <a:t>Connect warehouse to last mile through intelligent, transparent processes.</a:t>
            </a:r>
            <a:endParaRPr lang="en-US" dirty="0"/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B0CCB7F8-4F7E-288F-67EB-D57098D79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729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B817-3021-9971-399B-FDCF62D8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Akara’s Offering</a:t>
            </a:r>
          </a:p>
        </p:txBody>
      </p:sp>
      <p:pic>
        <p:nvPicPr>
          <p:cNvPr id="5" name="Content Placeholder 4" descr="Freight Transportation, Global Positioning System, Wireless Technology, Shipping, Truck">
            <a:extLst>
              <a:ext uri="{FF2B5EF4-FFF2-40B4-BE49-F238E27FC236}">
                <a16:creationId xmlns:a16="http://schemas.microsoft.com/office/drawing/2014/main" id="{95DB7DE1-A72E-432B-82DE-0E17682A812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7875" r="27875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FE2D2-F59B-FF5B-C3F1-C320F8A5CDC3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52673" y="1656189"/>
            <a:ext cx="4105389" cy="4927600"/>
          </a:xfrm>
        </p:spPr>
        <p:txBody>
          <a:bodyPr>
            <a:noAutofit/>
          </a:bodyPr>
          <a:lstStyle/>
          <a:p>
            <a:pPr>
              <a:spcBef>
                <a:spcPts val="2500"/>
              </a:spcBef>
            </a:pPr>
            <a:r>
              <a:rPr lang="en-US" b="1" dirty="0"/>
              <a:t>End-to-End Solutions </a:t>
            </a:r>
            <a:r>
              <a:rPr lang="en-US" dirty="0"/>
              <a:t>- Freight forwarding, warehousing, last-mile delivery, and real-time tracking all in one.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Smart &amp; Transparent</a:t>
            </a:r>
            <a:r>
              <a:rPr lang="en-US" dirty="0"/>
              <a:t> - Advanced analytics and automation for full visibility, faster decisions, and reliable results.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Proven Performance</a:t>
            </a:r>
            <a:r>
              <a:rPr lang="en-US" dirty="0"/>
              <a:t>: 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b="1" dirty="0">
                <a:solidFill>
                  <a:schemeClr val="accent2"/>
                </a:solidFill>
              </a:rPr>
              <a:t>     95% </a:t>
            </a:r>
            <a:r>
              <a:rPr lang="en-US" dirty="0"/>
              <a:t>on-time delivery</a:t>
            </a:r>
            <a:endParaRPr lang="en-US" b="1" dirty="0"/>
          </a:p>
          <a:p>
            <a:pPr marL="0" indent="0">
              <a:spcBef>
                <a:spcPts val="700"/>
              </a:spcBef>
              <a:buNone/>
            </a:pPr>
            <a:r>
              <a:rPr lang="en-US" b="1" dirty="0">
                <a:solidFill>
                  <a:schemeClr val="accent2"/>
                </a:solidFill>
              </a:rPr>
              <a:t>     99% </a:t>
            </a:r>
            <a:r>
              <a:rPr lang="en-US" dirty="0"/>
              <a:t>inventory accuracy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b="1" dirty="0">
                <a:solidFill>
                  <a:schemeClr val="accent2"/>
                </a:solidFill>
              </a:rPr>
              <a:t>     4.5+ </a:t>
            </a:r>
            <a:r>
              <a:rPr lang="en-US" dirty="0"/>
              <a:t>customer satisfaction</a:t>
            </a:r>
          </a:p>
          <a:p>
            <a:pPr>
              <a:spcBef>
                <a:spcPts val="2500"/>
              </a:spcBef>
            </a:pPr>
            <a:endParaRPr lang="en-US" dirty="0"/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E5126151-6652-2835-9056-A1A9D108C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429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7689-7FAE-3A7B-EE4D-A57C9B1D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Success Stories</a:t>
            </a:r>
          </a:p>
        </p:txBody>
      </p:sp>
      <p:pic>
        <p:nvPicPr>
          <p:cNvPr id="5" name="Content Placeholder 4" descr="A men working with laptop. business data hologram technology.">
            <a:extLst>
              <a:ext uri="{FF2B5EF4-FFF2-40B4-BE49-F238E27FC236}">
                <a16:creationId xmlns:a16="http://schemas.microsoft.com/office/drawing/2014/main" id="{FEDE59E5-408A-4A54-BF5C-9116FB656E0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32571" r="14919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EBEEC-91CD-DB59-7974-FBBA729D4D5E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73148" y="1930400"/>
            <a:ext cx="4395320" cy="3880773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2000" b="1" dirty="0">
                <a:solidFill>
                  <a:schemeClr val="tx1"/>
                </a:solidFill>
              </a:rPr>
              <a:t>30% </a:t>
            </a:r>
            <a:r>
              <a:rPr lang="en-US" sz="2000" dirty="0"/>
              <a:t>improvement in delivery accuracy</a:t>
            </a:r>
          </a:p>
          <a:p>
            <a:pPr>
              <a:spcBef>
                <a:spcPts val="2500"/>
              </a:spcBef>
            </a:pPr>
            <a:r>
              <a:rPr lang="en-US" sz="2000" b="1" dirty="0"/>
              <a:t>25% </a:t>
            </a:r>
            <a:r>
              <a:rPr lang="en-US" sz="2000" dirty="0"/>
              <a:t>reduction in warehouse processing time</a:t>
            </a:r>
          </a:p>
          <a:p>
            <a:pPr>
              <a:spcBef>
                <a:spcPts val="2500"/>
              </a:spcBef>
            </a:pPr>
            <a:r>
              <a:rPr lang="en-US" sz="2000" dirty="0"/>
              <a:t>CRM-driven insights improving customer retention</a:t>
            </a: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E1871816-078D-12DB-4396-312E3437B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363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2BDB-23B0-3A64-3C46-4F2AFE2D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Akara vs the Competition</a:t>
            </a:r>
          </a:p>
        </p:txBody>
      </p:sp>
      <p:pic>
        <p:nvPicPr>
          <p:cNvPr id="5" name="Content Placeholder 4" descr="Global shipping logistic export trade network transportation connection delivering modern city&#10;&#10;++The World map texture derived from public domain NASA: http://visibleearth.nasa.gov.&#10;Traced in Illustrator.File created on November 29, 2018++">
            <a:extLst>
              <a:ext uri="{FF2B5EF4-FFF2-40B4-BE49-F238E27FC236}">
                <a16:creationId xmlns:a16="http://schemas.microsoft.com/office/drawing/2014/main" id="{1D601EE3-E60C-4140-8769-FCCC5216C9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40389" r="1654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670C97A-266E-01D4-FC46-9C1E30C324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69070910"/>
              </p:ext>
            </p:extLst>
          </p:nvPr>
        </p:nvGraphicFramePr>
        <p:xfrm>
          <a:off x="5145086" y="2636521"/>
          <a:ext cx="4520564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>
                  <a:extLst>
                    <a:ext uri="{9D8B030D-6E8A-4147-A177-3AD203B41FA5}">
                      <a16:colId xmlns:a16="http://schemas.microsoft.com/office/drawing/2014/main" val="595418953"/>
                    </a:ext>
                  </a:extLst>
                </a:gridCol>
                <a:gridCol w="1042988">
                  <a:extLst>
                    <a:ext uri="{9D8B030D-6E8A-4147-A177-3AD203B41FA5}">
                      <a16:colId xmlns:a16="http://schemas.microsoft.com/office/drawing/2014/main" val="1221071330"/>
                    </a:ext>
                  </a:extLst>
                </a:gridCol>
                <a:gridCol w="1785937">
                  <a:extLst>
                    <a:ext uri="{9D8B030D-6E8A-4147-A177-3AD203B41FA5}">
                      <a16:colId xmlns:a16="http://schemas.microsoft.com/office/drawing/2014/main" val="212561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304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Proprietary tech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167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Real-time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⚠️ Partial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67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Compliance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⚠️ Inconsistent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148275"/>
                  </a:ext>
                </a:extLst>
              </a:tr>
            </a:tbl>
          </a:graphicData>
        </a:graphic>
      </p:graphicFrame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0F738150-6D31-883E-5FEF-9EC91CA8D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485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59BD-E481-D3C2-D469-2BAD3F50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0" y="673761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Pricing Approach</a:t>
            </a:r>
          </a:p>
        </p:txBody>
      </p:sp>
      <p:pic>
        <p:nvPicPr>
          <p:cNvPr id="5" name="Content Placeholder 4" descr="Closeup of a pen on financial data.">
            <a:extLst>
              <a:ext uri="{FF2B5EF4-FFF2-40B4-BE49-F238E27FC236}">
                <a16:creationId xmlns:a16="http://schemas.microsoft.com/office/drawing/2014/main" id="{2D6A674D-A9EF-4972-A739-7CD3C9C9C5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47491" r="-2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87570-0331-62AC-C2E1-750CAD0A678C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4960" y="1994561"/>
            <a:ext cx="4206213" cy="3880773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2000" dirty="0"/>
              <a:t>Flexible pricing tailored to shipment volume, warehousing needs, and integration scope.</a:t>
            </a:r>
          </a:p>
          <a:p>
            <a:pPr>
              <a:spcBef>
                <a:spcPts val="2500"/>
              </a:spcBef>
            </a:pPr>
            <a:r>
              <a:rPr lang="en-US" sz="2000" dirty="0"/>
              <a:t>Contact our team for a custom quote aligned with your logistics goals.</a:t>
            </a: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E7A57BE5-696C-B1DF-2607-367ED3705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011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1ADD-2978-B51C-3522-6D029B954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0" y="764210"/>
            <a:ext cx="8596668" cy="726068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9DCD0-0629-EE2B-4CF3-27172647BE0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94960" y="2668323"/>
            <a:ext cx="5218771" cy="3880773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DE" sz="2400" dirty="0"/>
              <a:t>🗓️  </a:t>
            </a:r>
            <a:r>
              <a:rPr lang="en-US" sz="2400" dirty="0"/>
              <a:t>Schedule a discovery call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DE" sz="2400" dirty="0"/>
              <a:t>💻  </a:t>
            </a:r>
            <a:r>
              <a:rPr lang="en-US" sz="2400" dirty="0"/>
              <a:t>Request a platform demo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DE" sz="2400" dirty="0"/>
              <a:t>✉️  </a:t>
            </a:r>
            <a:r>
              <a:rPr lang="en-US" sz="2400" dirty="0"/>
              <a:t>Email </a:t>
            </a:r>
            <a:r>
              <a:rPr lang="en-US" sz="2400" dirty="0" err="1"/>
              <a:t>sales@akara.com</a:t>
            </a:r>
            <a:endParaRPr lang="en-US" sz="2400" dirty="0"/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0BD5F4F1-DB94-E7F1-1805-F463A0F2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847" y="6240192"/>
            <a:ext cx="1412133" cy="617808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1C6AA506-596D-CAE0-0149-ACABFB877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3" r="11603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460735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C688CB-CD41-412D-8E6B-F14E13D0EAC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sharepoint/v3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4582</TotalTime>
  <Words>683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Akara Logistics Solutions</vt:lpstr>
      <vt:lpstr>About Akara</vt:lpstr>
      <vt:lpstr>The Challenge</vt:lpstr>
      <vt:lpstr>The Solution</vt:lpstr>
      <vt:lpstr>Akara’s Offering</vt:lpstr>
      <vt:lpstr>Success Stories</vt:lpstr>
      <vt:lpstr>Akara vs the Competition</vt:lpstr>
      <vt:lpstr>Pricing Approach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Clayton Crouch</cp:lastModifiedBy>
  <cp:revision>3</cp:revision>
  <dcterms:created xsi:type="dcterms:W3CDTF">2025-08-04T19:22:57Z</dcterms:created>
  <dcterms:modified xsi:type="dcterms:W3CDTF">2026-01-26T11:19:06Z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