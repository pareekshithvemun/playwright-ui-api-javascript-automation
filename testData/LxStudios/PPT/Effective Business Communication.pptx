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metadata/core-properties" Target="docProps/core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56" r:id="rId5"/>
    <p:sldMasterId id="2147483658" r:id="rId6"/>
    <p:sldMasterId id="2147483670" r:id="rId7"/>
    <p:sldMasterId id="2147483672" r:id="rId8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42" d="100"/>
          <a:sy n="142" d="100"/>
        </p:scale>
        <p:origin x="130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77160" y="3627720"/>
            <a:ext cx="508968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bit.ly/2TtBDfr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0" y="-3600"/>
            <a:ext cx="9143640" cy="515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228600" y="358200"/>
            <a:ext cx="8310240" cy="200916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9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28600" y="2972520"/>
            <a:ext cx="8686440" cy="1712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77160" y="2930400"/>
            <a:ext cx="5175360" cy="190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77160" y="278640"/>
            <a:ext cx="4731480" cy="2651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5915880" y="0"/>
            <a:ext cx="2617920" cy="3546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37222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body"/>
          </p:nvPr>
        </p:nvSpPr>
        <p:spPr>
          <a:xfrm>
            <a:off x="-7200" y="0"/>
            <a:ext cx="9189720" cy="515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title"/>
          </p:nvPr>
        </p:nvSpPr>
        <p:spPr>
          <a:xfrm>
            <a:off x="677160" y="2482200"/>
            <a:ext cx="5469120" cy="220284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9" name="PlaceHolder 3"/>
          <p:cNvSpPr>
            <a:spLocks noGrp="1"/>
          </p:cNvSpPr>
          <p:nvPr>
            <p:ph type="title"/>
          </p:nvPr>
        </p:nvSpPr>
        <p:spPr>
          <a:xfrm>
            <a:off x="795960" y="228600"/>
            <a:ext cx="1267920" cy="126936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strike="noStrike" spc="-1">
                <a:solidFill>
                  <a:schemeClr val="lt1"/>
                </a:solidFill>
                <a:latin typeface="Bricolage Grotesque"/>
                <a:ea typeface="Bricolage Grotesque"/>
              </a:rPr>
              <a:t>xx%</a:t>
            </a:r>
            <a:endParaRPr lang="fr-FR" sz="6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77160" y="3627720"/>
            <a:ext cx="508968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1" name="Google Shape;108;p21"/>
          <p:cNvSpPr/>
          <p:nvPr/>
        </p:nvSpPr>
        <p:spPr>
          <a:xfrm>
            <a:off x="5301000" y="4094280"/>
            <a:ext cx="361368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strike="noStrike" spc="-1">
                <a:solidFill>
                  <a:schemeClr val="dk1"/>
                </a:solidFill>
                <a:latin typeface="Assistant"/>
                <a:ea typeface="Assistant"/>
              </a:rPr>
              <a:t>CREDITS:</a:t>
            </a:r>
            <a:r>
              <a:rPr lang="en" sz="1000" b="0" strike="noStrike" spc="-1">
                <a:solidFill>
                  <a:schemeClr val="dk1"/>
                </a:solidFill>
                <a:latin typeface="Assistant"/>
                <a:ea typeface="Assistant"/>
              </a:rPr>
              <a:t> This presentation template was created by </a:t>
            </a:r>
            <a:r>
              <a:rPr lang="en" sz="1000" b="1" u="sng" strike="noStrike" spc="-1">
                <a:solidFill>
                  <a:schemeClr val="dk1"/>
                </a:solidFill>
                <a:uFillTx/>
                <a:latin typeface="Assistant"/>
                <a:ea typeface="Assistant"/>
                <a:hlinkClick r:id="rId3"/>
              </a:rPr>
              <a:t>Slidesgo</a:t>
            </a:r>
            <a:r>
              <a:rPr lang="en" sz="1000" b="0" strike="noStrike" spc="-1">
                <a:solidFill>
                  <a:schemeClr val="dk1"/>
                </a:solidFill>
                <a:latin typeface="Assistant"/>
                <a:ea typeface="Assistant"/>
              </a:rPr>
              <a:t>, and includes icons, infographics &amp; images by </a:t>
            </a:r>
            <a:r>
              <a:rPr lang="en" sz="1000" b="1" u="sng" strike="noStrike" spc="-1">
                <a:solidFill>
                  <a:schemeClr val="dk1"/>
                </a:solidFill>
                <a:uFillTx/>
                <a:latin typeface="Assistant"/>
                <a:ea typeface="Assistant"/>
                <a:hlinkClick r:id="rId4"/>
              </a:rPr>
              <a:t>Freepik</a:t>
            </a:r>
            <a:r>
              <a:rPr lang="en" sz="1000" b="0" strike="noStrike" spc="-1">
                <a:solidFill>
                  <a:schemeClr val="dk1"/>
                </a:solidFill>
                <a:latin typeface="Assistant"/>
                <a:ea typeface="Assistant"/>
              </a:rPr>
              <a:t> </a:t>
            </a:r>
            <a:endParaRPr lang="en-US" sz="10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126;p28"/>
          <p:cNvPicPr/>
          <p:nvPr/>
        </p:nvPicPr>
        <p:blipFill>
          <a:blip r:embed="rId2"/>
          <a:srcRect t="7806" b="7806"/>
          <a:stretch/>
        </p:blipFill>
        <p:spPr>
          <a:xfrm>
            <a:off x="0" y="-3600"/>
            <a:ext cx="9143640" cy="5150160"/>
          </a:xfrm>
          <a:prstGeom prst="rect">
            <a:avLst/>
          </a:prstGeom>
          <a:ln w="0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228600" y="361800"/>
            <a:ext cx="8314920" cy="200952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900" b="0" strike="noStrike" spc="-1" dirty="0">
                <a:solidFill>
                  <a:schemeClr val="lt1"/>
                </a:solidFill>
                <a:highlight>
                  <a:srgbClr val="800080"/>
                </a:highlight>
                <a:latin typeface="Bricolage Grotesque"/>
                <a:ea typeface="Bricolage Grotesque"/>
              </a:rPr>
              <a:t>Effective Business Communication</a:t>
            </a:r>
            <a:endParaRPr lang="fr-FR" sz="5900" b="0" strike="noStrike" spc="-1" dirty="0">
              <a:solidFill>
                <a:schemeClr val="dk1"/>
              </a:solidFill>
              <a:highlight>
                <a:srgbClr val="800080"/>
              </a:highlight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228600" y="3800520"/>
            <a:ext cx="4352400" cy="88560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strike="noStrike" spc="-1" dirty="0">
                <a:solidFill>
                  <a:schemeClr val="lt1"/>
                </a:solidFill>
                <a:highlight>
                  <a:srgbClr val="800080"/>
                </a:highlight>
                <a:latin typeface="Assistant"/>
                <a:ea typeface="Assistant"/>
              </a:rPr>
              <a:t>Explore best practices for clear and impactful communication.</a:t>
            </a:r>
            <a:endParaRPr lang="en-US" sz="1600" b="0" strike="noStrike" spc="-1" dirty="0">
              <a:solidFill>
                <a:srgbClr val="000000"/>
              </a:solidFill>
              <a:highlight>
                <a:srgbClr val="800080"/>
              </a:highlight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163;p31"/>
          <p:cNvPicPr/>
          <p:nvPr/>
        </p:nvPicPr>
        <p:blipFill>
          <a:blip r:embed="rId2"/>
          <a:srcRect l="11375" t="3558" r="44200" b="6157"/>
          <a:stretch/>
        </p:blipFill>
        <p:spPr>
          <a:xfrm>
            <a:off x="5915880" y="0"/>
            <a:ext cx="2617920" cy="3546360"/>
          </a:xfrm>
          <a:prstGeom prst="rect">
            <a:avLst/>
          </a:prstGeom>
          <a:ln w="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76440" y="2933640"/>
            <a:ext cx="517176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600" b="1" strike="noStrike" spc="-1">
                <a:solidFill>
                  <a:schemeClr val="dk1"/>
                </a:solidFill>
                <a:latin typeface="Bricolage Grotesque"/>
                <a:ea typeface="Bricolage Grotesque"/>
              </a:rPr>
              <a:t>Introduction</a:t>
            </a:r>
            <a:endParaRPr lang="fr-FR" sz="2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76440" y="276120"/>
            <a:ext cx="4733640" cy="264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strike="noStrike" spc="-1">
                <a:solidFill>
                  <a:schemeClr val="dk1"/>
                </a:solidFill>
                <a:latin typeface="Assistant"/>
                <a:ea typeface="Assistant"/>
              </a:rPr>
              <a:t>Effective communication is vital for leaders. This presentation outlines key principles and strategies that facilitate clarity and engagement, enabling improved collaboration and organizational success.</a:t>
            </a: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170;p32"/>
          <p:cNvPicPr/>
          <p:nvPr/>
        </p:nvPicPr>
        <p:blipFill>
          <a:blip r:embed="rId2"/>
          <a:srcRect t="7954" b="7954"/>
          <a:stretch/>
        </p:blipFill>
        <p:spPr>
          <a:xfrm>
            <a:off x="-7200" y="0"/>
            <a:ext cx="9189360" cy="5150520"/>
          </a:xfrm>
          <a:prstGeom prst="rect">
            <a:avLst/>
          </a:prstGeom>
          <a:ln w="0">
            <a:noFill/>
          </a:ln>
        </p:spPr>
      </p:pic>
      <p:sp>
        <p:nvSpPr>
          <p:cNvPr id="73" name="PlaceHolder 1"/>
          <p:cNvSpPr>
            <a:spLocks noGrp="1"/>
          </p:cNvSpPr>
          <p:nvPr>
            <p:ph type="subTitle"/>
          </p:nvPr>
        </p:nvSpPr>
        <p:spPr>
          <a:xfrm>
            <a:off x="6324480" y="3914640"/>
            <a:ext cx="1914120" cy="67608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algn="ctr"/>
            <a:endParaRPr lang="en-US" sz="1400" b="0" strike="noStrike" spc="-1">
              <a:solidFill>
                <a:schemeClr val="lt1"/>
              </a:solidFill>
              <a:latin typeface="Assistant Medium"/>
              <a:ea typeface="Assistant Medium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title"/>
          </p:nvPr>
        </p:nvSpPr>
        <p:spPr>
          <a:xfrm>
            <a:off x="676440" y="2486160"/>
            <a:ext cx="5466960" cy="219996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1" strike="noStrike" spc="-1" dirty="0">
                <a:solidFill>
                  <a:schemeClr val="lt1"/>
                </a:solidFill>
                <a:highlight>
                  <a:srgbClr val="800080"/>
                </a:highlight>
                <a:latin typeface="Bricolage Grotesque"/>
                <a:ea typeface="Bricolage Grotesque"/>
              </a:rPr>
              <a:t>Communication Fundamentals</a:t>
            </a:r>
            <a:endParaRPr lang="fr-FR" sz="4000" b="0" strike="noStrike" spc="-1" dirty="0">
              <a:solidFill>
                <a:schemeClr val="dk1"/>
              </a:solidFill>
              <a:highlight>
                <a:srgbClr val="800080"/>
              </a:highlight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title"/>
          </p:nvPr>
        </p:nvSpPr>
        <p:spPr>
          <a:xfrm>
            <a:off x="800280" y="228600"/>
            <a:ext cx="1266480" cy="126648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ctr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000" b="1" strike="noStrike" spc="-1">
                <a:solidFill>
                  <a:schemeClr val="lt1"/>
                </a:solidFill>
                <a:latin typeface="Bricolage Grotesque"/>
                <a:ea typeface="Bricolage Grotesque"/>
              </a:rPr>
              <a:t>01</a:t>
            </a:r>
            <a:endParaRPr lang="fr-FR" sz="6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163;p31"/>
          <p:cNvPicPr/>
          <p:nvPr/>
        </p:nvPicPr>
        <p:blipFill>
          <a:blip r:embed="rId2"/>
          <a:srcRect l="11375" t="3558" r="44200" b="6157"/>
          <a:stretch/>
        </p:blipFill>
        <p:spPr>
          <a:xfrm>
            <a:off x="5915880" y="0"/>
            <a:ext cx="2617920" cy="3546360"/>
          </a:xfrm>
          <a:prstGeom prst="rect">
            <a:avLst/>
          </a:prstGeom>
          <a:ln w="0">
            <a:noFill/>
          </a:ln>
        </p:spPr>
      </p:pic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76440" y="2933640"/>
            <a:ext cx="517176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600" b="1" strike="noStrike" spc="-1">
                <a:solidFill>
                  <a:schemeClr val="dk1"/>
                </a:solidFill>
                <a:latin typeface="Bricolage Grotesque"/>
                <a:ea typeface="Bricolage Grotesque"/>
              </a:rPr>
              <a:t>Importance of Clear Communication</a:t>
            </a:r>
            <a:endParaRPr lang="fr-FR" sz="2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76440" y="276120"/>
            <a:ext cx="4733640" cy="264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strike="noStrike" spc="-1">
                <a:solidFill>
                  <a:schemeClr val="dk1"/>
                </a:solidFill>
                <a:latin typeface="Assistant"/>
                <a:ea typeface="Assistant"/>
              </a:rPr>
              <a:t>Clear communication prevents misunderstandings and keeps teams aligned with business goals. It establishes trust and promotes efficient teamwork.</a:t>
            </a: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228600" y="2971800"/>
            <a:ext cx="8686440" cy="1714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1" strike="noStrike" spc="-1">
                <a:solidFill>
                  <a:schemeClr val="dk1"/>
                </a:solidFill>
                <a:latin typeface="Bricolage Grotesque"/>
                <a:ea typeface="Bricolage Grotesque"/>
              </a:rPr>
              <a:t>Elements of Effective Messaging</a:t>
            </a:r>
            <a:endParaRPr lang="fr-FR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ubTitle"/>
          </p:nvPr>
        </p:nvSpPr>
        <p:spPr>
          <a:xfrm>
            <a:off x="3152880" y="333360"/>
            <a:ext cx="5762160" cy="2542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strike="noStrike" spc="-1">
                <a:solidFill>
                  <a:schemeClr val="dk1"/>
                </a:solidFill>
                <a:latin typeface="Assistant"/>
                <a:ea typeface="Assistant"/>
              </a:rPr>
              <a:t>Effective messages are clear and concise, tailored to the audience. Ensuring straightforward language enhances understanding and engagement.</a:t>
            </a:r>
            <a:endParaRPr lang="en-US" sz="1400" b="0" strike="noStrike" spc="-1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228600" y="2971800"/>
            <a:ext cx="8686440" cy="1714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1" strike="noStrike" spc="-1">
                <a:solidFill>
                  <a:schemeClr val="dk1"/>
                </a:solidFill>
                <a:latin typeface="Bricolage Grotesque"/>
                <a:ea typeface="Bricolage Grotesque"/>
              </a:rPr>
              <a:t>Barriers to Effective Communication</a:t>
            </a:r>
            <a:endParaRPr lang="fr-FR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3152880" y="333360"/>
            <a:ext cx="5762160" cy="2542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strike="noStrike" spc="-1">
                <a:solidFill>
                  <a:schemeClr val="dk1"/>
                </a:solidFill>
                <a:latin typeface="Assistant"/>
                <a:ea typeface="Assistant"/>
              </a:rPr>
              <a:t>Barriers like cultural differences and emotional biases hinder communication. Recognizing and addressing these obstacles is crucial for improvement.</a:t>
            </a:r>
            <a:endParaRPr lang="en-US" sz="1400" b="0" strike="noStrike" spc="-1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170;p32"/>
          <p:cNvPicPr/>
          <p:nvPr/>
        </p:nvPicPr>
        <p:blipFill>
          <a:blip r:embed="rId2"/>
          <a:srcRect t="7954" b="7954"/>
          <a:stretch/>
        </p:blipFill>
        <p:spPr>
          <a:xfrm>
            <a:off x="-7200" y="0"/>
            <a:ext cx="9189360" cy="5150520"/>
          </a:xfrm>
          <a:prstGeom prst="rect">
            <a:avLst/>
          </a:prstGeom>
          <a:ln w="0">
            <a:noFill/>
          </a:ln>
        </p:spPr>
      </p:pic>
      <p:sp>
        <p:nvSpPr>
          <p:cNvPr id="84" name="PlaceHolder 1"/>
          <p:cNvSpPr>
            <a:spLocks noGrp="1"/>
          </p:cNvSpPr>
          <p:nvPr>
            <p:ph type="subTitle"/>
          </p:nvPr>
        </p:nvSpPr>
        <p:spPr>
          <a:xfrm>
            <a:off x="6324480" y="3914640"/>
            <a:ext cx="1914120" cy="67608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algn="ctr"/>
            <a:endParaRPr lang="en-US" sz="1400" b="0" strike="noStrike" spc="-1">
              <a:solidFill>
                <a:schemeClr val="lt1"/>
              </a:solidFill>
              <a:latin typeface="Assistant Medium"/>
              <a:ea typeface="Assistant Medium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676440" y="2486160"/>
            <a:ext cx="5466960" cy="219996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1" strike="noStrike" spc="-1" dirty="0">
                <a:solidFill>
                  <a:schemeClr val="lt1"/>
                </a:solidFill>
                <a:highlight>
                  <a:srgbClr val="800080"/>
                </a:highlight>
                <a:latin typeface="Bricolage Grotesque"/>
                <a:ea typeface="Bricolage Grotesque"/>
              </a:rPr>
              <a:t>Verbal Communication Skills</a:t>
            </a:r>
            <a:endParaRPr lang="fr-FR" sz="4000" b="0" strike="noStrike" spc="-1" dirty="0">
              <a:solidFill>
                <a:schemeClr val="dk1"/>
              </a:solidFill>
              <a:highlight>
                <a:srgbClr val="800080"/>
              </a:highlight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title"/>
          </p:nvPr>
        </p:nvSpPr>
        <p:spPr>
          <a:xfrm>
            <a:off x="800280" y="228600"/>
            <a:ext cx="1266480" cy="126648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ctr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000" b="1" strike="noStrike" spc="-1">
                <a:solidFill>
                  <a:schemeClr val="lt1"/>
                </a:solidFill>
                <a:latin typeface="Bricolage Grotesque"/>
                <a:ea typeface="Bricolage Grotesque"/>
              </a:rPr>
              <a:t>02</a:t>
            </a:r>
            <a:endParaRPr lang="fr-FR" sz="6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228600" y="2971800"/>
            <a:ext cx="8686440" cy="1714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1" strike="noStrike" spc="-1">
                <a:solidFill>
                  <a:schemeClr val="dk1"/>
                </a:solidFill>
                <a:latin typeface="Bricolage Grotesque"/>
                <a:ea typeface="Bricolage Grotesque"/>
              </a:rPr>
              <a:t>Techniques for Active Listening</a:t>
            </a:r>
            <a:endParaRPr lang="fr-FR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3152880" y="333360"/>
            <a:ext cx="5762160" cy="2542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strike="noStrike" spc="-1">
                <a:solidFill>
                  <a:schemeClr val="dk1"/>
                </a:solidFill>
                <a:latin typeface="Assistant"/>
                <a:ea typeface="Assistant"/>
              </a:rPr>
              <a:t>Active listening fosters better relationships. It involves fully engaging with the speaker and showing genuine interest in their perspective.</a:t>
            </a:r>
            <a:endParaRPr lang="en-US" sz="1400" b="0" strike="noStrike" spc="-1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163;p31"/>
          <p:cNvPicPr/>
          <p:nvPr/>
        </p:nvPicPr>
        <p:blipFill>
          <a:blip r:embed="rId2"/>
          <a:srcRect l="11375" t="3558" r="44200" b="6157"/>
          <a:stretch/>
        </p:blipFill>
        <p:spPr>
          <a:xfrm>
            <a:off x="5915880" y="0"/>
            <a:ext cx="2617920" cy="3546360"/>
          </a:xfrm>
          <a:prstGeom prst="rect">
            <a:avLst/>
          </a:prstGeom>
          <a:ln w="0">
            <a:noFill/>
          </a:ln>
        </p:spPr>
      </p:pic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76440" y="2933640"/>
            <a:ext cx="517176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600" b="1" strike="noStrike" spc="-1">
                <a:solidFill>
                  <a:schemeClr val="dk1"/>
                </a:solidFill>
                <a:latin typeface="Bricolage Grotesque"/>
                <a:ea typeface="Bricolage Grotesque"/>
              </a:rPr>
              <a:t>Articulation and Clarity</a:t>
            </a:r>
            <a:endParaRPr lang="fr-FR" sz="2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676440" y="276120"/>
            <a:ext cx="4733640" cy="264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strike="noStrike" spc="-1">
                <a:solidFill>
                  <a:schemeClr val="dk1"/>
                </a:solidFill>
                <a:latin typeface="Assistant"/>
                <a:ea typeface="Assistant"/>
              </a:rPr>
              <a:t>Leaders should speak clearly and at a measured pace. Precise language minimizes confusion and enhances message delivery.</a:t>
            </a: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228600" y="2971800"/>
            <a:ext cx="8686440" cy="1714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1" strike="noStrike" spc="-1">
                <a:solidFill>
                  <a:schemeClr val="dk1"/>
                </a:solidFill>
                <a:latin typeface="Bricolage Grotesque"/>
                <a:ea typeface="Bricolage Grotesque"/>
              </a:rPr>
              <a:t>Handling Difficult Conversations</a:t>
            </a:r>
            <a:endParaRPr lang="fr-FR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ubTitle"/>
          </p:nvPr>
        </p:nvSpPr>
        <p:spPr>
          <a:xfrm>
            <a:off x="3152880" y="333360"/>
            <a:ext cx="5762160" cy="2542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strike="noStrike" spc="-1">
                <a:solidFill>
                  <a:schemeClr val="dk1"/>
                </a:solidFill>
                <a:latin typeface="Assistant"/>
                <a:ea typeface="Assistant"/>
              </a:rPr>
              <a:t>Leaders must approach difficult conversations with preparation and empathy. Maintain focus on the issue, listen actively, and aim for a collaborative resolution to foster respect and understanding.</a:t>
            </a:r>
            <a:endParaRPr lang="en-US" sz="1400" b="0" strike="noStrike" spc="-1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170;p32"/>
          <p:cNvPicPr/>
          <p:nvPr/>
        </p:nvPicPr>
        <p:blipFill>
          <a:blip r:embed="rId2"/>
          <a:srcRect t="7954" b="7954"/>
          <a:stretch/>
        </p:blipFill>
        <p:spPr>
          <a:xfrm>
            <a:off x="-7200" y="0"/>
            <a:ext cx="9189360" cy="5150520"/>
          </a:xfrm>
          <a:prstGeom prst="rect">
            <a:avLst/>
          </a:prstGeom>
          <a:ln w="0">
            <a:noFill/>
          </a:ln>
        </p:spPr>
      </p:pic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6324480" y="3914640"/>
            <a:ext cx="1914120" cy="67608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algn="ctr"/>
            <a:endParaRPr lang="en-US" sz="1400" b="0" strike="noStrike" spc="-1">
              <a:solidFill>
                <a:schemeClr val="lt1"/>
              </a:solidFill>
              <a:latin typeface="Assistant Medium"/>
              <a:ea typeface="Assistant Medium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title"/>
          </p:nvPr>
        </p:nvSpPr>
        <p:spPr>
          <a:xfrm>
            <a:off x="676440" y="2486160"/>
            <a:ext cx="5466960" cy="219996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1" strike="noStrike" spc="-1" dirty="0">
                <a:solidFill>
                  <a:schemeClr val="lt1"/>
                </a:solidFill>
                <a:highlight>
                  <a:srgbClr val="800080"/>
                </a:highlight>
                <a:latin typeface="Bricolage Grotesque"/>
                <a:ea typeface="Bricolage Grotesque"/>
              </a:rPr>
              <a:t>Non-Verbal Communication</a:t>
            </a:r>
            <a:endParaRPr lang="fr-FR" sz="4000" b="0" strike="noStrike" spc="-1" dirty="0">
              <a:solidFill>
                <a:schemeClr val="dk1"/>
              </a:solidFill>
              <a:highlight>
                <a:srgbClr val="800080"/>
              </a:highlight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title"/>
          </p:nvPr>
        </p:nvSpPr>
        <p:spPr>
          <a:xfrm>
            <a:off x="800280" y="228600"/>
            <a:ext cx="1266480" cy="126648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ctr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000" b="1" strike="noStrike" spc="-1">
                <a:solidFill>
                  <a:schemeClr val="lt1"/>
                </a:solidFill>
                <a:latin typeface="Bricolage Grotesque"/>
                <a:ea typeface="Bricolage Grotesque"/>
              </a:rPr>
              <a:t>03</a:t>
            </a:r>
            <a:endParaRPr lang="fr-FR" sz="6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228600" y="2971800"/>
            <a:ext cx="8686440" cy="1714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1" strike="noStrike" spc="-1">
                <a:solidFill>
                  <a:schemeClr val="dk1"/>
                </a:solidFill>
                <a:latin typeface="Bricolage Grotesque"/>
                <a:ea typeface="Bricolage Grotesque"/>
              </a:rPr>
              <a:t>Understanding Body Language</a:t>
            </a:r>
            <a:endParaRPr lang="fr-FR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subTitle"/>
          </p:nvPr>
        </p:nvSpPr>
        <p:spPr>
          <a:xfrm>
            <a:off x="3152880" y="333360"/>
            <a:ext cx="5762160" cy="2542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strike="noStrike" spc="-1">
                <a:solidFill>
                  <a:schemeClr val="dk1"/>
                </a:solidFill>
                <a:latin typeface="Assistant"/>
                <a:ea typeface="Assistant"/>
              </a:rPr>
              <a:t>Body language conveys messages beyond words. Leaders should be aware of gestures and posture to enhance communication clarity and build rapport.</a:t>
            </a:r>
            <a:endParaRPr lang="en-US" sz="1400" b="0" strike="noStrike" spc="-1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63;p31"/>
          <p:cNvPicPr/>
          <p:nvPr/>
        </p:nvPicPr>
        <p:blipFill>
          <a:blip r:embed="rId2"/>
          <a:srcRect l="11375" t="3558" r="44200" b="6157"/>
          <a:stretch/>
        </p:blipFill>
        <p:spPr>
          <a:xfrm>
            <a:off x="5915880" y="0"/>
            <a:ext cx="2617920" cy="3546360"/>
          </a:xfrm>
          <a:prstGeom prst="rect">
            <a:avLst/>
          </a:prstGeom>
          <a:ln w="0">
            <a:noFill/>
          </a:ln>
        </p:spPr>
      </p:pic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76440" y="2933640"/>
            <a:ext cx="517176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600" b="1" strike="noStrike" spc="-1">
                <a:solidFill>
                  <a:schemeClr val="dk1"/>
                </a:solidFill>
                <a:latin typeface="Bricolage Grotesque"/>
                <a:ea typeface="Bricolage Grotesque"/>
              </a:rPr>
              <a:t>Role of Tone and Pitch</a:t>
            </a:r>
            <a:endParaRPr lang="fr-FR" sz="2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676440" y="276120"/>
            <a:ext cx="4733640" cy="264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strike="noStrike" spc="-1">
                <a:solidFill>
                  <a:schemeClr val="dk1"/>
                </a:solidFill>
                <a:latin typeface="Assistant"/>
                <a:ea typeface="Assistant"/>
              </a:rPr>
              <a:t>Tone and pitch significantly influence message perception. A positive tone fosters engagement, while a confident pitch reinforces authority in communication.</a:t>
            </a: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228600" y="2971800"/>
            <a:ext cx="8686440" cy="1714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1" strike="noStrike" spc="-1">
                <a:solidFill>
                  <a:schemeClr val="dk1"/>
                </a:solidFill>
                <a:latin typeface="Bricolage Grotesque"/>
                <a:ea typeface="Bricolage Grotesque"/>
              </a:rPr>
              <a:t>Cultural Sensitivities in Non-Verbal Cues</a:t>
            </a:r>
            <a:endParaRPr lang="fr-FR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3152880" y="333360"/>
            <a:ext cx="5762160" cy="2542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strike="noStrike" spc="-1">
                <a:solidFill>
                  <a:schemeClr val="dk1"/>
                </a:solidFill>
                <a:latin typeface="Assistant"/>
                <a:ea typeface="Assistant"/>
              </a:rPr>
              <a:t>Cultural differences affect non-verbal communication. Understanding these nuances helps prevent misinterpretations and builds stronger international relationships.</a:t>
            </a:r>
            <a:endParaRPr lang="en-US" sz="1400" b="0" strike="noStrike" spc="-1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70;p32"/>
          <p:cNvPicPr/>
          <p:nvPr/>
        </p:nvPicPr>
        <p:blipFill>
          <a:blip r:embed="rId2"/>
          <a:srcRect t="7954" b="7954"/>
          <a:stretch/>
        </p:blipFill>
        <p:spPr>
          <a:xfrm>
            <a:off x="-7200" y="0"/>
            <a:ext cx="9189360" cy="5150520"/>
          </a:xfrm>
          <a:prstGeom prst="rect">
            <a:avLst/>
          </a:prstGeom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subTitle"/>
          </p:nvPr>
        </p:nvSpPr>
        <p:spPr>
          <a:xfrm>
            <a:off x="6324480" y="3914640"/>
            <a:ext cx="1914120" cy="67608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algn="ctr"/>
            <a:endParaRPr lang="en-US" sz="1400" b="0" strike="noStrike" spc="-1">
              <a:solidFill>
                <a:schemeClr val="lt1"/>
              </a:solidFill>
              <a:latin typeface="Assistant Medium"/>
              <a:ea typeface="Assistant Medium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title"/>
          </p:nvPr>
        </p:nvSpPr>
        <p:spPr>
          <a:xfrm>
            <a:off x="676440" y="2486160"/>
            <a:ext cx="5466960" cy="219996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1" strike="noStrike" spc="-1" dirty="0">
                <a:solidFill>
                  <a:schemeClr val="lt1"/>
                </a:solidFill>
                <a:highlight>
                  <a:srgbClr val="800080"/>
                </a:highlight>
                <a:latin typeface="Bricolage Grotesque"/>
                <a:ea typeface="Bricolage Grotesque"/>
              </a:rPr>
              <a:t>Strategic Communication</a:t>
            </a:r>
            <a:endParaRPr lang="fr-FR" sz="4000" b="0" strike="noStrike" spc="-1" dirty="0">
              <a:solidFill>
                <a:schemeClr val="dk1"/>
              </a:solidFill>
              <a:highlight>
                <a:srgbClr val="800080"/>
              </a:highlight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title"/>
          </p:nvPr>
        </p:nvSpPr>
        <p:spPr>
          <a:xfrm>
            <a:off x="800280" y="228600"/>
            <a:ext cx="1266480" cy="126648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ctr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000" b="1" strike="noStrike" spc="-1">
                <a:solidFill>
                  <a:schemeClr val="lt1"/>
                </a:solidFill>
                <a:latin typeface="Bricolage Grotesque"/>
                <a:ea typeface="Bricolage Grotesque"/>
              </a:rPr>
              <a:t>04</a:t>
            </a:r>
            <a:endParaRPr lang="fr-FR" sz="6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63;p31"/>
          <p:cNvPicPr/>
          <p:nvPr/>
        </p:nvPicPr>
        <p:blipFill>
          <a:blip r:embed="rId2"/>
          <a:srcRect l="11375" t="3558" r="44200" b="6157"/>
          <a:stretch/>
        </p:blipFill>
        <p:spPr>
          <a:xfrm>
            <a:off x="5915880" y="0"/>
            <a:ext cx="2617920" cy="3546360"/>
          </a:xfrm>
          <a:prstGeom prst="rect">
            <a:avLst/>
          </a:prstGeom>
          <a:ln w="0">
            <a:noFill/>
          </a:ln>
        </p:spPr>
      </p:pic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76440" y="2933640"/>
            <a:ext cx="517176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600" b="1" strike="noStrike" spc="-1">
                <a:solidFill>
                  <a:schemeClr val="dk1"/>
                </a:solidFill>
                <a:latin typeface="Bricolage Grotesque"/>
                <a:ea typeface="Bricolage Grotesque"/>
              </a:rPr>
              <a:t>Aligning Communication with Business Goals</a:t>
            </a:r>
            <a:endParaRPr lang="fr-FR" sz="2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76440" y="276120"/>
            <a:ext cx="4733640" cy="264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strike="noStrike" spc="-1">
                <a:solidFill>
                  <a:schemeClr val="dk1"/>
                </a:solidFill>
                <a:latin typeface="Assistant"/>
                <a:ea typeface="Assistant"/>
              </a:rPr>
              <a:t>Effective communication must align with business objectives. Leaders should ensure that their messages support strategic goals and foster a unified company vision.</a:t>
            </a: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228600" y="2971800"/>
            <a:ext cx="8686440" cy="1714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1" strike="noStrike" spc="-1">
                <a:solidFill>
                  <a:schemeClr val="dk1"/>
                </a:solidFill>
                <a:latin typeface="Bricolage Grotesque"/>
                <a:ea typeface="Bricolage Grotesque"/>
              </a:rPr>
              <a:t>Influencing and Persuasion Techniques</a:t>
            </a:r>
            <a:endParaRPr lang="fr-FR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subTitle"/>
          </p:nvPr>
        </p:nvSpPr>
        <p:spPr>
          <a:xfrm>
            <a:off x="3152880" y="333360"/>
            <a:ext cx="5762160" cy="2542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strike="noStrike" spc="-1">
                <a:solidFill>
                  <a:schemeClr val="dk1"/>
                </a:solidFill>
                <a:latin typeface="Assistant"/>
                <a:ea typeface="Assistant"/>
              </a:rPr>
              <a:t>Leaders can use persuasion techniques, such as storytelling and data-driven arguments, to influence stakeholders and elicit desired actions effectively.</a:t>
            </a:r>
            <a:endParaRPr lang="en-US" sz="1400" b="0" strike="noStrike" spc="-1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228600" y="2971800"/>
            <a:ext cx="8686440" cy="1714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1" strike="noStrike" spc="-1">
                <a:solidFill>
                  <a:schemeClr val="dk1"/>
                </a:solidFill>
                <a:latin typeface="Bricolage Grotesque"/>
                <a:ea typeface="Bricolage Grotesque"/>
              </a:rPr>
              <a:t>Measuring Communication Effectiveness</a:t>
            </a:r>
            <a:endParaRPr lang="fr-FR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ubTitle"/>
          </p:nvPr>
        </p:nvSpPr>
        <p:spPr>
          <a:xfrm>
            <a:off x="3152880" y="333360"/>
            <a:ext cx="5762160" cy="2542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strike="noStrike" spc="-1">
                <a:solidFill>
                  <a:schemeClr val="dk1"/>
                </a:solidFill>
                <a:latin typeface="Assistant"/>
                <a:ea typeface="Assistant"/>
              </a:rPr>
              <a:t>Regularly evaluating communication initiatives ensures continuous improvement. Use metrics like feedback and engagement levels to assess effectiveness and adapt strategies.</a:t>
            </a:r>
            <a:endParaRPr lang="en-US" sz="1400" b="0" strike="noStrike" spc="-1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228600" y="2971800"/>
            <a:ext cx="8686440" cy="1714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1" strike="noStrike" spc="-1">
                <a:solidFill>
                  <a:schemeClr val="dk1"/>
                </a:solidFill>
                <a:latin typeface="Bricolage Grotesque"/>
                <a:ea typeface="Bricolage Grotesque"/>
              </a:rPr>
              <a:t>Conclusions</a:t>
            </a:r>
            <a:endParaRPr lang="fr-FR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3152880" y="333360"/>
            <a:ext cx="5762160" cy="2542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strike="noStrike" spc="-1">
                <a:solidFill>
                  <a:schemeClr val="dk1"/>
                </a:solidFill>
                <a:latin typeface="Assistant"/>
                <a:ea typeface="Assistant"/>
              </a:rPr>
              <a:t>In summary, mastering communication—both verbal and non-verbal—is crucial for leaders to enhance collaboration and drive success. Continuous learning and adaptation are key.</a:t>
            </a:r>
            <a:endParaRPr lang="en-US" sz="1400" b="0" strike="noStrike" spc="-1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76440" y="3629160"/>
            <a:ext cx="508608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1" strike="noStrike" spc="-1">
                <a:solidFill>
                  <a:schemeClr val="dk1"/>
                </a:solidFill>
                <a:latin typeface="Bricolage Grotesque"/>
                <a:ea typeface="Bricolage Grotesque"/>
              </a:rPr>
              <a:t>Thank you!</a:t>
            </a:r>
            <a:endParaRPr lang="fr-FR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subTitle"/>
          </p:nvPr>
        </p:nvSpPr>
        <p:spPr>
          <a:xfrm>
            <a:off x="4467240" y="228600"/>
            <a:ext cx="4447800" cy="1228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strike="noStrike" spc="-1">
                <a:solidFill>
                  <a:schemeClr val="dk1"/>
                </a:solidFill>
                <a:latin typeface="Assistant"/>
                <a:ea typeface="Assistant"/>
              </a:rPr>
              <a:t>Do you have any questions?</a:t>
            </a:r>
            <a:endParaRPr lang="en-US" sz="1200" b="0" strike="noStrike" spc="-1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20" name="Google Shape;273;p41"/>
          <p:cNvGrpSpPr/>
          <p:nvPr/>
        </p:nvGrpSpPr>
        <p:grpSpPr>
          <a:xfrm>
            <a:off x="7215840" y="1461960"/>
            <a:ext cx="275760" cy="275760"/>
            <a:chOff x="7215840" y="1461960"/>
            <a:chExt cx="275760" cy="275760"/>
          </a:xfrm>
        </p:grpSpPr>
        <p:sp>
          <p:nvSpPr>
            <p:cNvPr id="121" name="Google Shape;274;p41"/>
            <p:cNvSpPr/>
            <p:nvPr/>
          </p:nvSpPr>
          <p:spPr>
            <a:xfrm>
              <a:off x="7215840" y="1461960"/>
              <a:ext cx="275760" cy="275760"/>
            </a:xfrm>
            <a:custGeom>
              <a:avLst/>
              <a:gdLst>
                <a:gd name="textAreaLeft" fmla="*/ 0 w 275760"/>
                <a:gd name="textAreaRight" fmla="*/ 276120 w 275760"/>
                <a:gd name="textAreaTop" fmla="*/ 0 h 275760"/>
                <a:gd name="textAreaBottom" fmla="*/ 276120 h 275760"/>
              </a:gdLst>
              <a:ahLst/>
              <a:cxnLst/>
              <a:rect l="textAreaLeft" t="textAreaTop" r="textAreaRight" b="textAreaBottom"/>
              <a:pathLst>
                <a:path w="6764" h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2" name="Google Shape;275;p41"/>
            <p:cNvSpPr/>
            <p:nvPr/>
          </p:nvSpPr>
          <p:spPr>
            <a:xfrm>
              <a:off x="7279920" y="1527480"/>
              <a:ext cx="146880" cy="14400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144000"/>
                <a:gd name="textAreaBottom" fmla="*/ 144360 h 144000"/>
              </a:gdLst>
              <a:ahLst/>
              <a:cxnLst/>
              <a:rect l="textAreaLeft" t="textAreaTop" r="textAreaRight" b="textAreaBottom"/>
              <a:pathLst>
                <a:path w="3607" h="3542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0" bIns="72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3" name="Google Shape;276;p41"/>
            <p:cNvSpPr/>
            <p:nvPr/>
          </p:nvSpPr>
          <p:spPr>
            <a:xfrm>
              <a:off x="7409880" y="1497240"/>
              <a:ext cx="37440" cy="3708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929" h="918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124" name="Google Shape;277;p41"/>
          <p:cNvGrpSpPr/>
          <p:nvPr/>
        </p:nvGrpSpPr>
        <p:grpSpPr>
          <a:xfrm>
            <a:off x="7898760" y="1480680"/>
            <a:ext cx="266040" cy="237960"/>
            <a:chOff x="7898760" y="1480680"/>
            <a:chExt cx="266040" cy="237960"/>
          </a:xfrm>
        </p:grpSpPr>
        <p:sp>
          <p:nvSpPr>
            <p:cNvPr id="125" name="Google Shape;278;p41"/>
            <p:cNvSpPr/>
            <p:nvPr/>
          </p:nvSpPr>
          <p:spPr>
            <a:xfrm>
              <a:off x="7907760" y="1564560"/>
              <a:ext cx="60840" cy="15408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154080"/>
                <a:gd name="textAreaBottom" fmla="*/ 154440 h 154080"/>
              </a:gdLst>
              <a:ahLst/>
              <a:cxnLst/>
              <a:rect l="textAreaLeft" t="textAreaTop" r="textAreaRight" b="textAreaBottom"/>
              <a:pathLst>
                <a:path w="1502" h="3787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7040" bIns="77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6" name="Google Shape;279;p41"/>
            <p:cNvSpPr/>
            <p:nvPr/>
          </p:nvSpPr>
          <p:spPr>
            <a:xfrm>
              <a:off x="7898760" y="1480680"/>
              <a:ext cx="70200" cy="7020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70200"/>
                <a:gd name="textAreaBottom" fmla="*/ 70560 h 70200"/>
              </a:gdLst>
              <a:ahLst/>
              <a:cxnLst/>
              <a:rect l="textAreaLeft" t="textAreaTop" r="textAreaRight" b="textAreaBottom"/>
              <a:pathLst>
                <a:path w="1728" h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280" bIns="35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7" name="Google Shape;280;p41"/>
            <p:cNvSpPr/>
            <p:nvPr/>
          </p:nvSpPr>
          <p:spPr>
            <a:xfrm>
              <a:off x="8001000" y="1564560"/>
              <a:ext cx="163800" cy="154080"/>
            </a:xfrm>
            <a:custGeom>
              <a:avLst/>
              <a:gdLst>
                <a:gd name="textAreaLeft" fmla="*/ 0 w 163800"/>
                <a:gd name="textAreaRight" fmla="*/ 164160 w 163800"/>
                <a:gd name="textAreaTop" fmla="*/ 0 h 154080"/>
                <a:gd name="textAreaBottom" fmla="*/ 154440 h 154080"/>
              </a:gdLst>
              <a:ahLst/>
              <a:cxnLst/>
              <a:rect l="textAreaLeft" t="textAreaTop" r="textAreaRight" b="textAreaBottom"/>
              <a:pathLst>
                <a:path w="4026" h="3787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7040" bIns="77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28" name="Google Shape;281;p41"/>
          <p:cNvSpPr/>
          <p:nvPr/>
        </p:nvSpPr>
        <p:spPr>
          <a:xfrm>
            <a:off x="676440" y="228600"/>
            <a:ext cx="415260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0" strike="noStrike" spc="-1">
                <a:solidFill>
                  <a:schemeClr val="dk1"/>
                </a:solidFill>
                <a:latin typeface="Arial"/>
              </a:rPr>
              <a:t>+00 000 000 000</a:t>
            </a:r>
            <a:endParaRPr lang="en-US" sz="10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29" name="Google Shape;282;p41"/>
          <p:cNvSpPr/>
          <p:nvPr/>
        </p:nvSpPr>
        <p:spPr>
          <a:xfrm>
            <a:off x="8572320" y="1462680"/>
            <a:ext cx="268200" cy="273960"/>
          </a:xfrm>
          <a:custGeom>
            <a:avLst/>
            <a:gdLst>
              <a:gd name="textAreaLeft" fmla="*/ 0 w 268200"/>
              <a:gd name="textAreaRight" fmla="*/ 268560 w 268200"/>
              <a:gd name="textAreaTop" fmla="*/ 0 h 273960"/>
              <a:gd name="textAreaBottom" fmla="*/ 274320 h 273960"/>
            </a:gdLst>
            <a:ahLst/>
            <a:cxnLst/>
            <a:rect l="textAreaLeft" t="textAreaTop" r="textAreaRight" b="textAreaBottom"/>
            <a:pathLst>
              <a:path w="6712561" h="6860069">
                <a:moveTo>
                  <a:pt x="3994869" y="2904749"/>
                </a:moveTo>
                <a:lnTo>
                  <a:pt x="6493788" y="0"/>
                </a:lnTo>
                <a:lnTo>
                  <a:pt x="5901628" y="0"/>
                </a:lnTo>
                <a:lnTo>
                  <a:pt x="3731848" y="2522189"/>
                </a:lnTo>
                <a:lnTo>
                  <a:pt x="1998833" y="0"/>
                </a:lnTo>
                <a:lnTo>
                  <a:pt x="0" y="0"/>
                </a:lnTo>
                <a:lnTo>
                  <a:pt x="2620640" y="3813966"/>
                </a:lnTo>
                <a:lnTo>
                  <a:pt x="0" y="6860070"/>
                </a:lnTo>
                <a:lnTo>
                  <a:pt x="592216" y="6860070"/>
                </a:lnTo>
                <a:lnTo>
                  <a:pt x="2883548" y="4196581"/>
                </a:lnTo>
                <a:lnTo>
                  <a:pt x="4713728" y="6860070"/>
                </a:lnTo>
                <a:lnTo>
                  <a:pt x="6712561" y="6860070"/>
                </a:lnTo>
                <a:lnTo>
                  <a:pt x="3994757" y="2904749"/>
                </a:lnTo>
                <a:lnTo>
                  <a:pt x="3994925" y="2904749"/>
                </a:lnTo>
                <a:close/>
                <a:moveTo>
                  <a:pt x="3183768" y="3847528"/>
                </a:moveTo>
                <a:lnTo>
                  <a:pt x="2918230" y="3467765"/>
                </a:lnTo>
                <a:lnTo>
                  <a:pt x="805563" y="445770"/>
                </a:lnTo>
                <a:lnTo>
                  <a:pt x="1715115" y="445770"/>
                </a:lnTo>
                <a:lnTo>
                  <a:pt x="3420106" y="2884611"/>
                </a:lnTo>
                <a:lnTo>
                  <a:pt x="3685644" y="3264375"/>
                </a:lnTo>
                <a:lnTo>
                  <a:pt x="5901907" y="6434494"/>
                </a:lnTo>
                <a:lnTo>
                  <a:pt x="4992356" y="6434494"/>
                </a:lnTo>
                <a:lnTo>
                  <a:pt x="3183824" y="3847640"/>
                </a:lnTo>
                <a:lnTo>
                  <a:pt x="3183824" y="3847472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own Hall Meeting by Slidesgo">
  <a:themeElements>
    <a:clrScheme name="Simple Light">
      <a:dk1>
        <a:srgbClr val="191919"/>
      </a:dk1>
      <a:lt1>
        <a:srgbClr val="EFEFEF"/>
      </a:lt1>
      <a:dk2>
        <a:srgbClr val="7FA298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own Hall Meeting by Slidesgo">
  <a:themeElements>
    <a:clrScheme name="Simple Light">
      <a:dk1>
        <a:srgbClr val="191919"/>
      </a:dk1>
      <a:lt1>
        <a:srgbClr val="EFEFEF"/>
      </a:lt1>
      <a:dk2>
        <a:srgbClr val="7FA298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own Hall Meeting by Slidesgo">
  <a:themeElements>
    <a:clrScheme name="Simple Light">
      <a:dk1>
        <a:srgbClr val="191919"/>
      </a:dk1>
      <a:lt1>
        <a:srgbClr val="EFEFEF"/>
      </a:lt1>
      <a:dk2>
        <a:srgbClr val="7FA298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own Hall Meeting by Slidesgo">
  <a:themeElements>
    <a:clrScheme name="Simple Light">
      <a:dk1>
        <a:srgbClr val="191919"/>
      </a:dk1>
      <a:lt1>
        <a:srgbClr val="EFEFEF"/>
      </a:lt1>
      <a:dk2>
        <a:srgbClr val="7FA298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own Hall Meeting by Slidesgo">
  <a:themeElements>
    <a:clrScheme name="Simple Light">
      <a:dk1>
        <a:srgbClr val="191919"/>
      </a:dk1>
      <a:lt1>
        <a:srgbClr val="EFEFEF"/>
      </a:lt1>
      <a:dk2>
        <a:srgbClr val="7FA298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0078c976-09da-4f61-93a5-3c2380d93b43" xsi:nil="true"/>
    <Notes0 xmlns="0078c976-09da-4f61-93a5-3c2380d93b43" xsi:nil="true"/>
    <OwnerorCreator xmlns="0078c976-09da-4f61-93a5-3c2380d93b43">
      <UserInfo>
        <DisplayName/>
        <AccountId xsi:nil="true"/>
        <AccountType/>
      </UserInfo>
    </OwnerorCreator>
    <RevSpotlink xmlns="0078c976-09da-4f61-93a5-3c2380d93b43">
      <Url xsi:nil="true"/>
      <Description xsi:nil="true"/>
    </RevSpotlink>
    <Test xmlns="0078c976-09da-4f61-93a5-3c2380d93b43" xsi:nil="true"/>
    <Additional_x0020_Info xmlns="0078c976-09da-4f61-93a5-3c2380d93b43">
      <Url xsi:nil="true"/>
      <Description xsi:nil="true"/>
    </Additional_x0020_Info>
    <ContentArea xmlns="0078c976-09da-4f61-93a5-3c2380d93b43" xsi:nil="true"/>
    <TaxKeywordTaxHTField xmlns="e75993d2-21ca-4a33-bd42-a1f6d8989613">
      <Terms xmlns="http://schemas.microsoft.com/office/infopath/2007/PartnerControls"/>
    </TaxKeywordTaxHTField>
    <TaxCatchAll xmlns="567d2312-0729-48ba-857e-77359d3146cd" xsi:nil="true"/>
    <Details xmlns="0078c976-09da-4f61-93a5-3c2380d93b43" xsi:nil="true"/>
    <Audience xmlns="0078c976-09da-4f61-93a5-3c2380d93b43" xsi:nil="true"/>
    <lcf76f155ced4ddcb4097134ff3c332f xmlns="0078c976-09da-4f61-93a5-3c2380d93b4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4E77C40415A447B1A5E6E3B0BBBE38" ma:contentTypeVersion="30" ma:contentTypeDescription="Create a new document." ma:contentTypeScope="" ma:versionID="2c893ac0bee14e860b91e636673303da">
  <xsd:schema xmlns:xsd="http://www.w3.org/2001/XMLSchema" xmlns:xs="http://www.w3.org/2001/XMLSchema" xmlns:p="http://schemas.microsoft.com/office/2006/metadata/properties" xmlns:ns2="0078c976-09da-4f61-93a5-3c2380d93b43" xmlns:ns3="e75993d2-21ca-4a33-bd42-a1f6d8989613" xmlns:ns4="567d2312-0729-48ba-857e-77359d3146cd" targetNamespace="http://schemas.microsoft.com/office/2006/metadata/properties" ma:root="true" ma:fieldsID="7bf1e5d2e72c2e688eb0de2ba7c9db92" ns2:_="" ns3:_="" ns4:_="">
    <xsd:import namespace="0078c976-09da-4f61-93a5-3c2380d93b43"/>
    <xsd:import namespace="e75993d2-21ca-4a33-bd42-a1f6d8989613"/>
    <xsd:import namespace="567d2312-0729-48ba-857e-77359d3146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TaxKeywordTaxHTField" minOccurs="0"/>
                <xsd:element ref="ns4:TaxCatchAll" minOccurs="0"/>
                <xsd:element ref="ns2:Audience" minOccurs="0"/>
                <xsd:element ref="ns2:MediaLengthInSeconds" minOccurs="0"/>
                <xsd:element ref="ns2:Notes0" minOccurs="0"/>
                <xsd:element ref="ns2:lcf76f155ced4ddcb4097134ff3c332f" minOccurs="0"/>
                <xsd:element ref="ns2:Test" minOccurs="0"/>
                <xsd:element ref="ns2:ContentArea" minOccurs="0"/>
                <xsd:element ref="ns2:OwnerorCreator" minOccurs="0"/>
                <xsd:element ref="ns2:RevSpotlink" minOccurs="0"/>
                <xsd:element ref="ns2:Additional_x0020_Info" minOccurs="0"/>
                <xsd:element ref="ns2:Details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78c976-09da-4f61-93a5-3c2380d93b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Audience" ma:index="23" nillable="true" ma:displayName="Audience" ma:description="Indicates if a resource is intended for INTERNAL (skillsoft employees) or EXTERNAL (prospects, contacts)." ma:format="Dropdown" ma:internalName="Audience">
      <xsd:simpleType>
        <xsd:restriction base="dms:Choice">
          <xsd:enumeration value="Internal Only"/>
          <xsd:enumeration value="External / Customer Facing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Notes0" ma:index="25" nillable="true" ma:displayName="Notes" ma:description="Additional notes about this resource." ma:internalName="Notes0">
      <xsd:simpleType>
        <xsd:restriction base="dms:Text">
          <xsd:maxLength value="255"/>
        </xsd:restriction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56c96b7e-5bf0-4834-8b97-10d0cc96332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Test" ma:index="28" nillable="true" ma:displayName="Test " ma:format="Dropdown" ma:internalName="Test">
      <xsd:simpleType>
        <xsd:restriction base="dms:Text">
          <xsd:maxLength value="255"/>
        </xsd:restriction>
      </xsd:simpleType>
    </xsd:element>
    <xsd:element name="ContentArea" ma:index="29" nillable="true" ma:displayName="Content Area" ma:format="Dropdown" ma:internalName="ContentArea">
      <xsd:simpleType>
        <xsd:restriction base="dms:Text">
          <xsd:maxLength value="255"/>
        </xsd:restriction>
      </xsd:simpleType>
    </xsd:element>
    <xsd:element name="OwnerorCreator" ma:index="30" nillable="true" ma:displayName="Creator/Owner" ma:format="Dropdown" ma:list="UserInfo" ma:SharePointGroup="0" ma:internalName="OwnerorCreato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Spotlink" ma:index="31" nillable="true" ma:displayName="Helpful Links" ma:description="The most up to date resource on this topic may be on Revspot or our Documentation site." ma:format="Hyperlink" ma:internalName="RevSpot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Additional_x0020_Info" ma:index="32" nillable="true" ma:displayName="Hyperlinks" ma:description="For links to take you to additional information." ma:format="Hyperlink" ma:internalName="Additional_x0020_Info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Details" ma:index="33" nillable="true" ma:displayName="Details" ma:format="Dropdown" ma:internalName="Details">
      <xsd:simpleType>
        <xsd:restriction base="dms:Note">
          <xsd:maxLength value="255"/>
        </xsd:restriction>
      </xsd:simpleType>
    </xsd:element>
    <xsd:element name="_Flow_SignoffStatus" ma:index="34" nillable="true" ma:displayName="Sign-off status" ma:internalName="Sign_x002d_off_x0020_status">
      <xsd:simpleType>
        <xsd:restriction base="dms:Text"/>
      </xsd:simpleType>
    </xsd:element>
    <xsd:element name="MediaServiceObjectDetectorVersions" ma:index="3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5993d2-21ca-4a33-bd42-a1f6d8989613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KeywordTaxHTField" ma:index="21" nillable="true" ma:taxonomy="true" ma:internalName="TaxKeywordTaxHTField" ma:taxonomyFieldName="TaxKeyword" ma:displayName="Enterprise Keywords" ma:fieldId="{23f27201-bee3-471e-b2e7-b64fd8b7ca38}" ma:taxonomyMulti="true" ma:sspId="56c96b7e-5bf0-4834-8b97-10d0cc96332d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7d2312-0729-48ba-857e-77359d3146c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a5d61246-7768-4b7d-bc08-91218514165b}" ma:internalName="TaxCatchAll" ma:showField="CatchAllData" ma:web="e75993d2-21ca-4a33-bd42-a1f6d898961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134DEA-3D60-43EC-892D-619DFC72E28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DD62D83-6750-4C8B-BFE4-E814D5E4A281}">
  <ds:schemaRefs>
    <ds:schemaRef ds:uri="http://schemas.microsoft.com/office/2006/metadata/properties"/>
    <ds:schemaRef ds:uri="http://schemas.microsoft.com/office/infopath/2007/PartnerControls"/>
    <ds:schemaRef ds:uri="0078c976-09da-4f61-93a5-3c2380d93b43"/>
    <ds:schemaRef ds:uri="e75993d2-21ca-4a33-bd42-a1f6d8989613"/>
    <ds:schemaRef ds:uri="567d2312-0729-48ba-857e-77359d3146cd"/>
  </ds:schemaRefs>
</ds:datastoreItem>
</file>

<file path=customXml/itemProps3.xml><?xml version="1.0" encoding="utf-8"?>
<ds:datastoreItem xmlns:ds="http://schemas.openxmlformats.org/officeDocument/2006/customXml" ds:itemID="{2CAE043F-CDE2-486F-9F47-25072FB055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078c976-09da-4f61-93a5-3c2380d93b43"/>
    <ds:schemaRef ds:uri="e75993d2-21ca-4a33-bd42-a1f6d8989613"/>
    <ds:schemaRef ds:uri="567d2312-0729-48ba-857e-77359d3146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407</Words>
  <Application>Microsoft Office PowerPoint</Application>
  <PresentationFormat>On-screen Show (16:9)</PresentationFormat>
  <Paragraphs>41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Town Hall Meeting by Slidesgo</vt:lpstr>
      <vt:lpstr>Town Hall Meeting by Slidesgo</vt:lpstr>
      <vt:lpstr>Town Hall Meeting by Slidesgo</vt:lpstr>
      <vt:lpstr>Town Hall Meeting by Slidesgo</vt:lpstr>
      <vt:lpstr>Town Hall Meeting by Slidesgo</vt:lpstr>
      <vt:lpstr>Effective Business Communication</vt:lpstr>
      <vt:lpstr>Introduction</vt:lpstr>
      <vt:lpstr>Communication Fundamentals</vt:lpstr>
      <vt:lpstr>Importance of Clear Communication</vt:lpstr>
      <vt:lpstr>Elements of Effective Messaging</vt:lpstr>
      <vt:lpstr>Barriers to Effective Communication</vt:lpstr>
      <vt:lpstr>Verbal Communication Skills</vt:lpstr>
      <vt:lpstr>Techniques for Active Listening</vt:lpstr>
      <vt:lpstr>Articulation and Clarity</vt:lpstr>
      <vt:lpstr>Handling Difficult Conversations</vt:lpstr>
      <vt:lpstr>Non-Verbal Communication</vt:lpstr>
      <vt:lpstr>Understanding Body Language</vt:lpstr>
      <vt:lpstr>Role of Tone and Pitch</vt:lpstr>
      <vt:lpstr>Cultural Sensitivities in Non-Verbal Cues</vt:lpstr>
      <vt:lpstr>Strategic Communication</vt:lpstr>
      <vt:lpstr>Aligning Communication with Business Goals</vt:lpstr>
      <vt:lpstr>Influencing and Persuasion Techniques</vt:lpstr>
      <vt:lpstr>Measuring Communication Effectiveness</vt:lpstr>
      <vt:lpstr>Conclusions</vt:lpstr>
      <vt:lpstr>Thank you!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Daniel Munter</cp:lastModifiedBy>
  <cp:revision>3</cp:revision>
  <dcterms:modified xsi:type="dcterms:W3CDTF">2025-10-13T16:18:03Z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2025-06-24T16:50:09Z</dcterms:created>
  <dc:creator>Unknown Creator</dc:creator>
  <dc:description/>
  <dc:language>en-US</dc:language>
  <cp:lastModifiedBy>Unknown Creator</cp:lastModifiedBy>
  <dcterms:modified xsi:type="dcterms:W3CDTF">2025-06-24T16:50:09Z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  <property fmtid="{D5CDD505-2E9C-101B-9397-08002B2CF9AE}" pid="3" name="ContentTypeId">
    <vt:lpwstr>0x0101006A4E77C40415A447B1A5E6E3B0BBBE38</vt:lpwstr>
  </property>
  <property fmtid="{D5CDD505-2E9C-101B-9397-08002B2CF9AE}" pid="4" name="TaxKeyword">
    <vt:lpwstr/>
  </property>
  <property fmtid="{D5CDD505-2E9C-101B-9397-08002B2CF9AE}" pid="5" name="MediaServiceImageTags">
    <vt:lpwstr/>
  </property>
</Properties>
</file>